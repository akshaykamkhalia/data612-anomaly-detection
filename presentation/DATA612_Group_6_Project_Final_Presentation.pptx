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7"/>
  </p:notesMasterIdLst>
  <p:sldIdLst>
    <p:sldId id="257" r:id="rId2"/>
    <p:sldId id="258" r:id="rId3"/>
    <p:sldId id="259" r:id="rId4"/>
    <p:sldId id="260" r:id="rId5"/>
    <p:sldId id="261" r:id="rId6"/>
    <p:sldId id="272" r:id="rId7"/>
    <p:sldId id="262" r:id="rId8"/>
    <p:sldId id="263" r:id="rId9"/>
    <p:sldId id="264" r:id="rId10"/>
    <p:sldId id="267" r:id="rId11"/>
    <p:sldId id="270" r:id="rId12"/>
    <p:sldId id="265" r:id="rId13"/>
    <p:sldId id="268" r:id="rId14"/>
    <p:sldId id="271" r:id="rId15"/>
    <p:sldId id="269" r:id="rId16"/>
  </p:sldIdLst>
  <p:sldSz cx="9144000" cy="5143500" type="screen16x9"/>
  <p:notesSz cx="6858000" cy="9144000"/>
  <p:embeddedFontLst>
    <p:embeddedFont>
      <p:font typeface="Georgia" panose="02040502050405020303" pitchFamily="18"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1EA565-4E6C-4188-AC24-F59BC76F47BB}">
  <a:tblStyle styleId="{AB1EA565-4E6C-4188-AC24-F59BC76F47BB}"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51"/>
  </p:normalViewPr>
  <p:slideViewPr>
    <p:cSldViewPr snapToGrid="0">
      <p:cViewPr varScale="1">
        <p:scale>
          <a:sx n="153" d="100"/>
          <a:sy n="153" d="100"/>
        </p:scale>
        <p:origin x="68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
        <p:nvSpPr>
          <p:cNvPr id="199" name="Google Shape;199;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dae9dadfc0_0_2152: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E4DDC-84EE-F634-2084-F81EDDEFC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64185-7B59-37EE-CDFF-BE70452DC9D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FE81B57-2E5A-AEA7-D7C2-7DDA3A64B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6D5FE5-3F4C-9A58-F26E-E1BFBAAD936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38303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2220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daedf4074f_55_0)">
  <p:cSld name="Generated (g3daedf4074f_55_0)">
    <p:spTree>
      <p:nvGrpSpPr>
        <p:cNvPr id="1" name="Shape 47"/>
        <p:cNvGrpSpPr/>
        <p:nvPr/>
      </p:nvGrpSpPr>
      <p:grpSpPr>
        <a:xfrm>
          <a:off x="0" y="0"/>
          <a:ext cx="0" cy="0"/>
          <a:chOff x="0" y="0"/>
          <a:chExt cx="0" cy="0"/>
        </a:xfrm>
      </p:grpSpPr>
    </p:spTree>
    <p:extLst>
      <p:ext uri="{BB962C8B-B14F-4D97-AF65-F5344CB8AC3E}">
        <p14:creationId xmlns:p14="http://schemas.microsoft.com/office/powerpoint/2010/main" val="332212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4A261"/>
          </a:solidFill>
          <a:ln w="12700">
            <a:solidFill>
              <a:srgbClr val="F4A261"/>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7" name="Text 5"/>
          <p:cNvSpPr/>
          <p:nvPr/>
        </p:nvSpPr>
        <p:spPr>
          <a:xfrm>
            <a:off x="777240" y="960120"/>
            <a:ext cx="7772400" cy="274320"/>
          </a:xfrm>
          <a:prstGeom prst="rect">
            <a:avLst/>
          </a:prstGeom>
          <a:noFill/>
          <a:ln/>
        </p:spPr>
        <p:txBody>
          <a:bodyPr wrap="square" lIns="0" tIns="0" rIns="0" bIns="0" rtlCol="0" anchor="ctr"/>
          <a:lstStyle/>
          <a:p>
            <a:pPr marL="0" indent="0">
              <a:buNone/>
            </a:pPr>
            <a:r>
              <a:rPr lang="en-US" sz="1000" b="1" kern="0" spc="400" dirty="0">
                <a:solidFill>
                  <a:srgbClr val="F4A261"/>
                </a:solidFill>
                <a:latin typeface="Calibri" panose="020F0502020204030204" pitchFamily="34" charset="0"/>
                <a:ea typeface="Calibri" pitchFamily="34" charset="-122"/>
                <a:cs typeface="Calibri" panose="020F0502020204030204" pitchFamily="34" charset="0"/>
              </a:rPr>
              <a:t>PROJECT PRESENTATION  |  GROUP 6</a:t>
            </a:r>
            <a:endParaRPr lang="en-US" sz="1000" dirty="0">
              <a:latin typeface="Calibri" panose="020F0502020204030204" pitchFamily="34" charset="0"/>
              <a:cs typeface="Calibri" panose="020F0502020204030204" pitchFamily="34" charset="0"/>
            </a:endParaRPr>
          </a:p>
        </p:txBody>
      </p:sp>
      <p:sp>
        <p:nvSpPr>
          <p:cNvPr id="9" name="Text 7"/>
          <p:cNvSpPr/>
          <p:nvPr/>
        </p:nvSpPr>
        <p:spPr>
          <a:xfrm>
            <a:off x="777239" y="1691640"/>
            <a:ext cx="7772400" cy="502920"/>
          </a:xfrm>
          <a:prstGeom prst="rect">
            <a:avLst/>
          </a:prstGeom>
          <a:noFill/>
          <a:ln/>
        </p:spPr>
        <p:txBody>
          <a:bodyPr wrap="square" lIns="0" tIns="0" rIns="0" bIns="0" rtlCol="0" anchor="ctr"/>
          <a:lstStyle/>
          <a:p>
            <a:pPr marL="0" indent="0">
              <a:buNone/>
            </a:pPr>
            <a:r>
              <a:rPr lang="en-US" sz="3400" b="1" i="1" dirty="0">
                <a:solidFill>
                  <a:srgbClr val="E8ECF7"/>
                </a:solidFill>
                <a:latin typeface="Calibri" panose="020F0502020204030204" pitchFamily="34" charset="0"/>
                <a:ea typeface="Georgia" pitchFamily="34" charset="-122"/>
                <a:cs typeface="Calibri" panose="020F0502020204030204" pitchFamily="34" charset="0"/>
              </a:rPr>
              <a:t>Industrial Anomaly Detection via Diffusion Reconstruction</a:t>
            </a:r>
            <a:endParaRPr lang="en-US" sz="3400" b="1" dirty="0">
              <a:latin typeface="Calibri" panose="020F0502020204030204" pitchFamily="34" charset="0"/>
              <a:cs typeface="Calibri" panose="020F0502020204030204" pitchFamily="34" charset="0"/>
            </a:endParaRPr>
          </a:p>
        </p:txBody>
      </p:sp>
      <p:sp>
        <p:nvSpPr>
          <p:cNvPr id="10" name="Shape 8"/>
          <p:cNvSpPr/>
          <p:nvPr/>
        </p:nvSpPr>
        <p:spPr>
          <a:xfrm>
            <a:off x="777239" y="2834640"/>
            <a:ext cx="827117" cy="45720"/>
          </a:xfrm>
          <a:prstGeom prst="rect">
            <a:avLst/>
          </a:prstGeom>
          <a:solidFill>
            <a:srgbClr val="F4A261"/>
          </a:solidFill>
          <a:ln w="12700">
            <a:solidFill>
              <a:srgbClr val="F4A261"/>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1" name="Text 9"/>
          <p:cNvSpPr/>
          <p:nvPr/>
        </p:nvSpPr>
        <p:spPr>
          <a:xfrm>
            <a:off x="777240" y="3017520"/>
            <a:ext cx="777240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itchFamily="34" charset="-122"/>
                <a:cs typeface="Calibri" panose="020F0502020204030204" pitchFamily="34" charset="0"/>
              </a:rPr>
              <a:t>Shrikanth </a:t>
            </a:r>
            <a:r>
              <a:rPr lang="en-US" sz="1300" dirty="0" err="1">
                <a:solidFill>
                  <a:srgbClr val="FFFFFF"/>
                </a:solidFill>
                <a:latin typeface="Calibri" panose="020F0502020204030204" pitchFamily="34" charset="0"/>
                <a:ea typeface="Calibri" pitchFamily="34" charset="-122"/>
                <a:cs typeface="Calibri" panose="020F0502020204030204" pitchFamily="34" charset="0"/>
              </a:rPr>
              <a:t>Vilvadrinath</a:t>
            </a:r>
            <a:r>
              <a:rPr lang="en-US" sz="1300" dirty="0">
                <a:solidFill>
                  <a:srgbClr val="FFFFFF"/>
                </a:solidFill>
                <a:latin typeface="Calibri" panose="020F0502020204030204" pitchFamily="34" charset="0"/>
                <a:ea typeface="Calibri" pitchFamily="34" charset="-122"/>
                <a:cs typeface="Calibri" panose="020F0502020204030204" pitchFamily="34" charset="0"/>
              </a:rPr>
              <a:t>   |  Sivram Sahu   ·   Kevin Rathod   |   Akshay Kamkhalia</a:t>
            </a:r>
            <a:endParaRPr lang="en-US" sz="1300" dirty="0">
              <a:latin typeface="Calibri" panose="020F0502020204030204" pitchFamily="34" charset="0"/>
              <a:cs typeface="Calibri" panose="020F0502020204030204" pitchFamily="34" charset="0"/>
            </a:endParaRPr>
          </a:p>
        </p:txBody>
      </p:sp>
      <p:sp>
        <p:nvSpPr>
          <p:cNvPr id="12" name="Text 10"/>
          <p:cNvSpPr/>
          <p:nvPr/>
        </p:nvSpPr>
        <p:spPr>
          <a:xfrm>
            <a:off x="777240" y="3520440"/>
            <a:ext cx="7772400" cy="1005840"/>
          </a:xfrm>
          <a:prstGeom prst="rect">
            <a:avLst/>
          </a:prstGeom>
          <a:noFill/>
          <a:ln/>
        </p:spPr>
        <p:txBody>
          <a:bodyPr wrap="square" lIns="0" tIns="0" rIns="0" bIns="0" rtlCol="0" anchor="t"/>
          <a:lstStyle/>
          <a:p>
            <a:pPr marL="0" indent="0">
              <a:spcAft>
                <a:spcPts val="200"/>
              </a:spcAft>
              <a:buNone/>
            </a:pPr>
            <a:r>
              <a:rPr lang="en-US" sz="1100" dirty="0">
                <a:solidFill>
                  <a:srgbClr val="E8ECF7"/>
                </a:solidFill>
                <a:latin typeface="Calibri" panose="020F0502020204030204" pitchFamily="34" charset="0"/>
                <a:ea typeface="Calibri" pitchFamily="34" charset="-122"/>
                <a:cs typeface="Calibri" panose="020F0502020204030204" pitchFamily="34" charset="0"/>
              </a:rPr>
              <a:t>DATA-MSML 612 Deep Learning</a:t>
            </a:r>
            <a:endParaRPr lang="en-US" sz="1100" dirty="0">
              <a:latin typeface="Calibri" panose="020F0502020204030204" pitchFamily="34" charset="0"/>
              <a:cs typeface="Calibri" panose="020F0502020204030204" pitchFamily="34" charset="0"/>
            </a:endParaRPr>
          </a:p>
          <a:p>
            <a:pPr marL="0" indent="0">
              <a:spcAft>
                <a:spcPts val="200"/>
              </a:spcAft>
              <a:buNone/>
            </a:pPr>
            <a:r>
              <a:rPr lang="en-US" sz="1100" dirty="0">
                <a:solidFill>
                  <a:srgbClr val="E8ECF7"/>
                </a:solidFill>
                <a:latin typeface="Calibri" panose="020F0502020204030204" pitchFamily="34" charset="0"/>
                <a:ea typeface="Calibri" pitchFamily="34" charset="-122"/>
                <a:cs typeface="Calibri" panose="020F0502020204030204" pitchFamily="34" charset="0"/>
              </a:rPr>
              <a:t>University of Maryland</a:t>
            </a:r>
            <a:endParaRPr lang="en-US" sz="1100" dirty="0">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INTRODUCTION</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Project Overview</a:t>
            </a:r>
            <a:endParaRPr lang="en-US" sz="2200" dirty="0"/>
          </a:p>
        </p:txBody>
      </p:sp>
      <p:sp>
        <p:nvSpPr>
          <p:cNvPr id="9" name="Shape 7"/>
          <p:cNvSpPr/>
          <p:nvPr/>
        </p:nvSpPr>
        <p:spPr>
          <a:xfrm>
            <a:off x="338328" y="1293876"/>
            <a:ext cx="4572000" cy="352044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338328" y="1293876"/>
            <a:ext cx="54864" cy="3520440"/>
          </a:xfrm>
          <a:prstGeom prst="rect">
            <a:avLst/>
          </a:prstGeom>
          <a:solidFill>
            <a:srgbClr val="F4A261"/>
          </a:solidFill>
          <a:ln w="12700">
            <a:solidFill>
              <a:srgbClr val="F4A261"/>
            </a:solidFill>
            <a:prstDash val="solid"/>
          </a:ln>
        </p:spPr>
        <p:txBody>
          <a:bodyPr/>
          <a:lstStyle/>
          <a:p>
            <a:endParaRPr lang="en-US"/>
          </a:p>
        </p:txBody>
      </p:sp>
      <p:sp>
        <p:nvSpPr>
          <p:cNvPr id="11" name="Text 9"/>
          <p:cNvSpPr/>
          <p:nvPr/>
        </p:nvSpPr>
        <p:spPr>
          <a:xfrm>
            <a:off x="685800" y="1371600"/>
            <a:ext cx="4206240" cy="1033272"/>
          </a:xfrm>
          <a:prstGeom prst="rect">
            <a:avLst/>
          </a:prstGeom>
          <a:noFill/>
          <a:ln/>
        </p:spPr>
        <p:txBody>
          <a:bodyPr wrap="square" lIns="0" tIns="0" rIns="0" bIns="0" rtlCol="0" anchor="t"/>
          <a:lstStyle/>
          <a:p>
            <a:pPr marL="0" indent="0">
              <a:buNone/>
            </a:pPr>
            <a:r>
              <a:rPr lang="en-US" sz="1150" b="1" dirty="0">
                <a:solidFill>
                  <a:srgbClr val="1A1B2E"/>
                </a:solidFill>
                <a:latin typeface="Calibri" pitchFamily="34" charset="0"/>
                <a:ea typeface="Calibri" pitchFamily="34" charset="-122"/>
                <a:cs typeface="Calibri" pitchFamily="34" charset="-120"/>
              </a:rPr>
              <a:t>Industrial anomaly detection </a:t>
            </a:r>
            <a:r>
              <a:rPr lang="en-US" sz="1150" dirty="0">
                <a:solidFill>
                  <a:srgbClr val="1A1B2E"/>
                </a:solidFill>
                <a:latin typeface="Calibri" pitchFamily="34" charset="0"/>
                <a:ea typeface="Calibri" pitchFamily="34" charset="-122"/>
                <a:cs typeface="Calibri" pitchFamily="34" charset="-120"/>
              </a:rPr>
              <a:t>aims to identify product defects using image data. In real manufacturing settings, </a:t>
            </a:r>
            <a:r>
              <a:rPr lang="en-US" sz="1150" b="1" dirty="0">
                <a:solidFill>
                  <a:srgbClr val="1A1B2E"/>
                </a:solidFill>
                <a:latin typeface="Calibri" pitchFamily="34" charset="0"/>
                <a:ea typeface="Calibri" pitchFamily="34" charset="-122"/>
                <a:cs typeface="Calibri" pitchFamily="34" charset="-120"/>
              </a:rPr>
              <a:t>normal samples are abundant</a:t>
            </a:r>
            <a:r>
              <a:rPr lang="en-US" sz="1150" dirty="0">
                <a:solidFill>
                  <a:srgbClr val="1A1B2E"/>
                </a:solidFill>
                <a:latin typeface="Calibri" pitchFamily="34" charset="0"/>
                <a:ea typeface="Calibri" pitchFamily="34" charset="-122"/>
                <a:cs typeface="Calibri" pitchFamily="34" charset="-120"/>
              </a:rPr>
              <a:t> while </a:t>
            </a:r>
            <a:r>
              <a:rPr lang="en-US" sz="1150" b="1" dirty="0">
                <a:solidFill>
                  <a:srgbClr val="1A1B2E"/>
                </a:solidFill>
                <a:latin typeface="Calibri" pitchFamily="34" charset="0"/>
                <a:ea typeface="Calibri" pitchFamily="34" charset="-122"/>
                <a:cs typeface="Calibri" pitchFamily="34" charset="-120"/>
              </a:rPr>
              <a:t>defective samples are rare</a:t>
            </a:r>
            <a:r>
              <a:rPr lang="en-US" sz="1150" dirty="0">
                <a:solidFill>
                  <a:srgbClr val="1A1B2E"/>
                </a:solidFill>
                <a:latin typeface="Calibri" pitchFamily="34" charset="0"/>
                <a:ea typeface="Calibri" pitchFamily="34" charset="-122"/>
                <a:cs typeface="Calibri" pitchFamily="34" charset="-120"/>
              </a:rPr>
              <a:t>, which makes standard supervised learning difficult.</a:t>
            </a:r>
            <a:endParaRPr lang="en-US" sz="1150" dirty="0"/>
          </a:p>
        </p:txBody>
      </p:sp>
      <p:sp>
        <p:nvSpPr>
          <p:cNvPr id="12" name="Text 10"/>
          <p:cNvSpPr/>
          <p:nvPr/>
        </p:nvSpPr>
        <p:spPr>
          <a:xfrm>
            <a:off x="685800" y="2606040"/>
            <a:ext cx="4206240" cy="896112"/>
          </a:xfrm>
          <a:prstGeom prst="rect">
            <a:avLst/>
          </a:prstGeom>
          <a:noFill/>
          <a:ln/>
        </p:spPr>
        <p:txBody>
          <a:bodyPr wrap="square" lIns="0" tIns="0" rIns="0" bIns="0" rtlCol="0" anchor="t"/>
          <a:lstStyle/>
          <a:p>
            <a:pPr marL="0" indent="0">
              <a:buNone/>
            </a:pPr>
            <a:r>
              <a:rPr lang="en-US" sz="1150" dirty="0">
                <a:solidFill>
                  <a:srgbClr val="1A1B2E"/>
                </a:solidFill>
                <a:latin typeface="Calibri" pitchFamily="34" charset="0"/>
                <a:ea typeface="Calibri" pitchFamily="34" charset="-122"/>
                <a:cs typeface="Calibri" pitchFamily="34" charset="-120"/>
              </a:rPr>
              <a:t>We study whether a </a:t>
            </a:r>
            <a:r>
              <a:rPr lang="en-US" sz="1150" b="1" dirty="0">
                <a:solidFill>
                  <a:schemeClr val="tx1"/>
                </a:solidFill>
                <a:latin typeface="Calibri" pitchFamily="34" charset="0"/>
                <a:ea typeface="Calibri" pitchFamily="34" charset="-122"/>
                <a:cs typeface="Calibri" pitchFamily="34" charset="-120"/>
              </a:rPr>
              <a:t>Diffusion Transformer (DiT-Tiny)</a:t>
            </a:r>
            <a:r>
              <a:rPr lang="en-US" sz="1150" dirty="0">
                <a:solidFill>
                  <a:schemeClr val="tx1"/>
                </a:solidFill>
                <a:latin typeface="Calibri" pitchFamily="34" charset="0"/>
                <a:ea typeface="Calibri" pitchFamily="34" charset="-122"/>
                <a:cs typeface="Calibri" pitchFamily="34" charset="-120"/>
              </a:rPr>
              <a:t> </a:t>
            </a:r>
            <a:r>
              <a:rPr lang="en-US" sz="1150" dirty="0">
                <a:solidFill>
                  <a:srgbClr val="1A1B2E"/>
                </a:solidFill>
                <a:latin typeface="Calibri" pitchFamily="34" charset="0"/>
                <a:ea typeface="Calibri" pitchFamily="34" charset="-122"/>
                <a:cs typeface="Calibri" pitchFamily="34" charset="-120"/>
              </a:rPr>
              <a:t>can learn the appearance of normal products from the </a:t>
            </a:r>
            <a:r>
              <a:rPr lang="en-US" sz="1150" b="1" dirty="0">
                <a:solidFill>
                  <a:schemeClr val="tx1"/>
                </a:solidFill>
                <a:latin typeface="Calibri" pitchFamily="34" charset="0"/>
                <a:ea typeface="Calibri" pitchFamily="34" charset="-122"/>
                <a:cs typeface="Calibri" pitchFamily="34" charset="-120"/>
              </a:rPr>
              <a:t>MVTec AD dataset</a:t>
            </a:r>
            <a:r>
              <a:rPr lang="en-US" sz="1150" dirty="0">
                <a:solidFill>
                  <a:schemeClr val="tx1"/>
                </a:solidFill>
                <a:latin typeface="Calibri" pitchFamily="34" charset="0"/>
                <a:ea typeface="Calibri" pitchFamily="34" charset="-122"/>
                <a:cs typeface="Calibri" pitchFamily="34" charset="-120"/>
              </a:rPr>
              <a:t> </a:t>
            </a:r>
            <a:r>
              <a:rPr lang="en-US" sz="1150" dirty="0">
                <a:solidFill>
                  <a:srgbClr val="1A1B2E"/>
                </a:solidFill>
                <a:latin typeface="Calibri" pitchFamily="34" charset="0"/>
                <a:ea typeface="Calibri" pitchFamily="34" charset="-122"/>
                <a:cs typeface="Calibri" pitchFamily="34" charset="-120"/>
              </a:rPr>
              <a:t>and use reconstruction mismatch to detect anomalies.</a:t>
            </a:r>
            <a:endParaRPr lang="en-US" sz="1150" dirty="0"/>
          </a:p>
        </p:txBody>
      </p:sp>
      <p:sp>
        <p:nvSpPr>
          <p:cNvPr id="13" name="Shape 11"/>
          <p:cNvSpPr/>
          <p:nvPr/>
        </p:nvSpPr>
        <p:spPr>
          <a:xfrm>
            <a:off x="685800" y="3813048"/>
            <a:ext cx="128016" cy="128016"/>
          </a:xfrm>
          <a:prstGeom prst="rect">
            <a:avLst/>
          </a:prstGeom>
          <a:solidFill>
            <a:srgbClr val="F4A261"/>
          </a:solidFill>
          <a:ln w="12700">
            <a:solidFill>
              <a:srgbClr val="F4A261"/>
            </a:solidFill>
            <a:prstDash val="solid"/>
          </a:ln>
        </p:spPr>
        <p:txBody>
          <a:bodyPr/>
          <a:lstStyle/>
          <a:p>
            <a:endParaRPr lang="en-US"/>
          </a:p>
        </p:txBody>
      </p:sp>
      <p:sp>
        <p:nvSpPr>
          <p:cNvPr id="14" name="Text 12"/>
          <p:cNvSpPr/>
          <p:nvPr/>
        </p:nvSpPr>
        <p:spPr>
          <a:xfrm>
            <a:off x="905256" y="374904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Our system</a:t>
            </a:r>
            <a:endParaRPr lang="en-US" sz="1300" dirty="0"/>
          </a:p>
        </p:txBody>
      </p:sp>
      <p:sp>
        <p:nvSpPr>
          <p:cNvPr id="15" name="Shape 13"/>
          <p:cNvSpPr/>
          <p:nvPr/>
        </p:nvSpPr>
        <p:spPr>
          <a:xfrm>
            <a:off x="740664" y="4155948"/>
            <a:ext cx="82296" cy="82296"/>
          </a:xfrm>
          <a:prstGeom prst="rect">
            <a:avLst/>
          </a:prstGeom>
          <a:solidFill>
            <a:srgbClr val="F4A261"/>
          </a:solidFill>
          <a:ln w="12700">
            <a:solidFill>
              <a:srgbClr val="F4A261"/>
            </a:solidFill>
            <a:prstDash val="solid"/>
          </a:ln>
        </p:spPr>
        <p:txBody>
          <a:bodyPr/>
          <a:lstStyle/>
          <a:p>
            <a:endParaRPr lang="en-US"/>
          </a:p>
        </p:txBody>
      </p:sp>
      <p:sp>
        <p:nvSpPr>
          <p:cNvPr id="16" name="Text 14"/>
          <p:cNvSpPr/>
          <p:nvPr/>
        </p:nvSpPr>
        <p:spPr>
          <a:xfrm>
            <a:off x="960120" y="4069080"/>
            <a:ext cx="3931920" cy="219456"/>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learns only from normal images</a:t>
            </a:r>
            <a:endParaRPr lang="en-US" sz="1100" dirty="0"/>
          </a:p>
        </p:txBody>
      </p:sp>
      <p:sp>
        <p:nvSpPr>
          <p:cNvPr id="17" name="Shape 15"/>
          <p:cNvSpPr/>
          <p:nvPr/>
        </p:nvSpPr>
        <p:spPr>
          <a:xfrm>
            <a:off x="740664" y="4375404"/>
            <a:ext cx="82296" cy="82296"/>
          </a:xfrm>
          <a:prstGeom prst="rect">
            <a:avLst/>
          </a:prstGeom>
          <a:solidFill>
            <a:srgbClr val="F4A261"/>
          </a:solidFill>
          <a:ln w="12700">
            <a:solidFill>
              <a:srgbClr val="F4A261"/>
            </a:solidFill>
            <a:prstDash val="solid"/>
          </a:ln>
        </p:spPr>
        <p:txBody>
          <a:bodyPr/>
          <a:lstStyle/>
          <a:p>
            <a:endParaRPr lang="en-US"/>
          </a:p>
        </p:txBody>
      </p:sp>
      <p:sp>
        <p:nvSpPr>
          <p:cNvPr id="18" name="Text 16"/>
          <p:cNvSpPr/>
          <p:nvPr/>
        </p:nvSpPr>
        <p:spPr>
          <a:xfrm>
            <a:off x="960120" y="4288536"/>
            <a:ext cx="3931920" cy="219456"/>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detects whether a test image is anomalous</a:t>
            </a:r>
            <a:endParaRPr lang="en-US" sz="1100" dirty="0"/>
          </a:p>
        </p:txBody>
      </p:sp>
      <p:sp>
        <p:nvSpPr>
          <p:cNvPr id="19" name="Shape 17"/>
          <p:cNvSpPr/>
          <p:nvPr/>
        </p:nvSpPr>
        <p:spPr>
          <a:xfrm>
            <a:off x="740664" y="4594860"/>
            <a:ext cx="82296" cy="82296"/>
          </a:xfrm>
          <a:prstGeom prst="rect">
            <a:avLst/>
          </a:prstGeom>
          <a:solidFill>
            <a:srgbClr val="F4A261"/>
          </a:solidFill>
          <a:ln w="12700">
            <a:solidFill>
              <a:srgbClr val="F4A261"/>
            </a:solidFill>
            <a:prstDash val="solid"/>
          </a:ln>
        </p:spPr>
        <p:txBody>
          <a:bodyPr/>
          <a:lstStyle/>
          <a:p>
            <a:endParaRPr lang="en-US"/>
          </a:p>
        </p:txBody>
      </p:sp>
      <p:sp>
        <p:nvSpPr>
          <p:cNvPr id="20" name="Text 18"/>
          <p:cNvSpPr/>
          <p:nvPr/>
        </p:nvSpPr>
        <p:spPr>
          <a:xfrm>
            <a:off x="960120" y="4507992"/>
            <a:ext cx="3931920" cy="219456"/>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localizes the defect region using an anomaly map</a:t>
            </a:r>
            <a:endParaRPr lang="en-US" sz="1100" dirty="0"/>
          </a:p>
        </p:txBody>
      </p:sp>
      <p:pic>
        <p:nvPicPr>
          <p:cNvPr id="27" name="Picture 26">
            <a:extLst>
              <a:ext uri="{FF2B5EF4-FFF2-40B4-BE49-F238E27FC236}">
                <a16:creationId xmlns:a16="http://schemas.microsoft.com/office/drawing/2014/main" id="{822AFE1B-10FF-4C08-5177-B71D84B6509D}"/>
              </a:ext>
            </a:extLst>
          </p:cNvPr>
          <p:cNvPicPr>
            <a:picLocks noChangeAspect="1"/>
          </p:cNvPicPr>
          <p:nvPr/>
        </p:nvPicPr>
        <p:blipFill>
          <a:blip r:embed="rId3"/>
          <a:stretch>
            <a:fillRect/>
          </a:stretch>
        </p:blipFill>
        <p:spPr>
          <a:xfrm>
            <a:off x="5257800" y="1189400"/>
            <a:ext cx="3697264" cy="34877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5965"/>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INTRODUCTION</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Problem Statement</a:t>
            </a:r>
            <a:endParaRPr lang="en-US" sz="2200" dirty="0"/>
          </a:p>
        </p:txBody>
      </p:sp>
      <p:sp>
        <p:nvSpPr>
          <p:cNvPr id="9" name="Shape 7"/>
          <p:cNvSpPr/>
          <p:nvPr/>
        </p:nvSpPr>
        <p:spPr>
          <a:xfrm>
            <a:off x="490873" y="1252142"/>
            <a:ext cx="4572000" cy="352044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457200" y="1188720"/>
            <a:ext cx="54864" cy="3520440"/>
          </a:xfrm>
          <a:prstGeom prst="rect">
            <a:avLst/>
          </a:prstGeom>
          <a:solidFill>
            <a:srgbClr val="F4A261"/>
          </a:solidFill>
          <a:ln w="12700">
            <a:solidFill>
              <a:srgbClr val="F4A261"/>
            </a:solidFill>
            <a:prstDash val="solid"/>
          </a:ln>
        </p:spPr>
        <p:txBody>
          <a:bodyPr/>
          <a:lstStyle/>
          <a:p>
            <a:endParaRPr lang="en-US"/>
          </a:p>
        </p:txBody>
      </p:sp>
      <p:sp>
        <p:nvSpPr>
          <p:cNvPr id="11" name="Text 9"/>
          <p:cNvSpPr/>
          <p:nvPr/>
        </p:nvSpPr>
        <p:spPr>
          <a:xfrm>
            <a:off x="545737" y="1264158"/>
            <a:ext cx="4206240" cy="492076"/>
          </a:xfrm>
          <a:prstGeom prst="rect">
            <a:avLst/>
          </a:prstGeom>
          <a:noFill/>
          <a:ln/>
        </p:spPr>
        <p:txBody>
          <a:bodyPr wrap="square" lIns="0" tIns="0" rIns="0" bIns="0" rtlCol="0" anchor="t"/>
          <a:lstStyle/>
          <a:p>
            <a:r>
              <a:rPr lang="en-US" sz="1100" dirty="0">
                <a:solidFill>
                  <a:srgbClr val="1A1B2E"/>
                </a:solidFill>
                <a:latin typeface="Calibri" pitchFamily="34" charset="0"/>
                <a:cs typeface="Calibri" pitchFamily="34" charset="-120"/>
              </a:rPr>
              <a:t>Manual visual inspection is expensive, slow, and difficult to scale. Even small visual differences, such as the tip variation in these two screw images can indicate a defect.</a:t>
            </a:r>
          </a:p>
          <a:p>
            <a:endParaRPr lang="en-US" sz="1100" dirty="0">
              <a:solidFill>
                <a:srgbClr val="1A1B2E"/>
              </a:solidFill>
              <a:latin typeface="Calibri" pitchFamily="34" charset="0"/>
              <a:ea typeface="Calibri" pitchFamily="34" charset="-122"/>
              <a:cs typeface="Calibri" pitchFamily="34" charset="-120"/>
            </a:endParaRPr>
          </a:p>
          <a:p>
            <a:r>
              <a:rPr lang="en-US" sz="1150" dirty="0">
                <a:solidFill>
                  <a:srgbClr val="1A1B2E"/>
                </a:solidFill>
                <a:latin typeface="Calibri" pitchFamily="34" charset="0"/>
                <a:ea typeface="Calibri" pitchFamily="34" charset="-122"/>
                <a:cs typeface="Calibri" pitchFamily="34" charset="-120"/>
              </a:rPr>
              <a:t>Defect datasets are usually:</a:t>
            </a:r>
          </a:p>
          <a:p>
            <a:endParaRPr lang="en-US" sz="1150" dirty="0">
              <a:solidFill>
                <a:srgbClr val="1A1B2E"/>
              </a:solidFill>
              <a:latin typeface="Calibri" pitchFamily="34" charset="0"/>
              <a:ea typeface="Calibri" pitchFamily="34" charset="-122"/>
              <a:cs typeface="Calibri" pitchFamily="34" charset="-120"/>
            </a:endParaRPr>
          </a:p>
          <a:p>
            <a:pPr marL="0" indent="0">
              <a:buNone/>
            </a:pPr>
            <a:br>
              <a:rPr lang="en-US" sz="1150" dirty="0">
                <a:solidFill>
                  <a:srgbClr val="1A1B2E"/>
                </a:solidFill>
                <a:latin typeface="Calibri" pitchFamily="34" charset="0"/>
                <a:ea typeface="Calibri" pitchFamily="34" charset="-122"/>
                <a:cs typeface="Calibri" pitchFamily="34" charset="-120"/>
              </a:rPr>
            </a:br>
            <a:r>
              <a:rPr lang="en-US" sz="1150" dirty="0">
                <a:solidFill>
                  <a:srgbClr val="1A1B2E"/>
                </a:solidFill>
                <a:latin typeface="Calibri" pitchFamily="34" charset="0"/>
                <a:ea typeface="Calibri" pitchFamily="34" charset="-122"/>
                <a:cs typeface="Calibri" pitchFamily="34" charset="-120"/>
              </a:rPr>
              <a:t> </a:t>
            </a:r>
            <a:endParaRPr lang="en-US" sz="1150" dirty="0"/>
          </a:p>
        </p:txBody>
      </p:sp>
      <p:sp>
        <p:nvSpPr>
          <p:cNvPr id="12" name="Shape 10"/>
          <p:cNvSpPr/>
          <p:nvPr/>
        </p:nvSpPr>
        <p:spPr>
          <a:xfrm>
            <a:off x="732767" y="2175441"/>
            <a:ext cx="82296" cy="82296"/>
          </a:xfrm>
          <a:prstGeom prst="rect">
            <a:avLst/>
          </a:prstGeom>
          <a:solidFill>
            <a:srgbClr val="F4A261"/>
          </a:solidFill>
          <a:ln w="12700">
            <a:solidFill>
              <a:srgbClr val="F4A261"/>
            </a:solidFill>
            <a:prstDash val="solid"/>
          </a:ln>
        </p:spPr>
        <p:txBody>
          <a:bodyPr/>
          <a:lstStyle/>
          <a:p>
            <a:endParaRPr lang="en-US"/>
          </a:p>
        </p:txBody>
      </p:sp>
      <p:sp>
        <p:nvSpPr>
          <p:cNvPr id="13" name="Text 11"/>
          <p:cNvSpPr/>
          <p:nvPr/>
        </p:nvSpPr>
        <p:spPr>
          <a:xfrm>
            <a:off x="960120" y="2071116"/>
            <a:ext cx="3931920" cy="256032"/>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small and highly imbalanced</a:t>
            </a:r>
            <a:endParaRPr lang="en-US" sz="1150" dirty="0"/>
          </a:p>
        </p:txBody>
      </p:sp>
      <p:sp>
        <p:nvSpPr>
          <p:cNvPr id="14" name="Shape 12"/>
          <p:cNvSpPr/>
          <p:nvPr/>
        </p:nvSpPr>
        <p:spPr>
          <a:xfrm>
            <a:off x="740664" y="2372868"/>
            <a:ext cx="82296" cy="82296"/>
          </a:xfrm>
          <a:prstGeom prst="rect">
            <a:avLst/>
          </a:prstGeom>
          <a:solidFill>
            <a:srgbClr val="F4A261"/>
          </a:solidFill>
          <a:ln w="12700">
            <a:solidFill>
              <a:srgbClr val="F4A261"/>
            </a:solidFill>
            <a:prstDash val="solid"/>
          </a:ln>
        </p:spPr>
        <p:txBody>
          <a:bodyPr/>
          <a:lstStyle/>
          <a:p>
            <a:endParaRPr lang="en-US"/>
          </a:p>
        </p:txBody>
      </p:sp>
      <p:sp>
        <p:nvSpPr>
          <p:cNvPr id="15" name="Text 13"/>
          <p:cNvSpPr/>
          <p:nvPr/>
        </p:nvSpPr>
        <p:spPr>
          <a:xfrm>
            <a:off x="960120" y="2267712"/>
            <a:ext cx="3931920" cy="256032"/>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expensive to label</a:t>
            </a:r>
            <a:endParaRPr lang="en-US" sz="1150" dirty="0"/>
          </a:p>
        </p:txBody>
      </p:sp>
      <p:sp>
        <p:nvSpPr>
          <p:cNvPr id="16" name="Shape 14"/>
          <p:cNvSpPr/>
          <p:nvPr/>
        </p:nvSpPr>
        <p:spPr>
          <a:xfrm>
            <a:off x="740664" y="2628900"/>
            <a:ext cx="82296" cy="82296"/>
          </a:xfrm>
          <a:prstGeom prst="rect">
            <a:avLst/>
          </a:prstGeom>
          <a:solidFill>
            <a:srgbClr val="F4A261"/>
          </a:solidFill>
          <a:ln w="12700">
            <a:solidFill>
              <a:srgbClr val="F4A261"/>
            </a:solidFill>
            <a:prstDash val="solid"/>
          </a:ln>
        </p:spPr>
        <p:txBody>
          <a:bodyPr/>
          <a:lstStyle/>
          <a:p>
            <a:endParaRPr lang="en-US"/>
          </a:p>
        </p:txBody>
      </p:sp>
      <p:sp>
        <p:nvSpPr>
          <p:cNvPr id="17" name="Text 15"/>
          <p:cNvSpPr/>
          <p:nvPr/>
        </p:nvSpPr>
        <p:spPr>
          <a:xfrm>
            <a:off x="960120" y="2523744"/>
            <a:ext cx="3931920" cy="256032"/>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diverse across categories and defect types</a:t>
            </a:r>
            <a:endParaRPr lang="en-US" sz="1150" dirty="0"/>
          </a:p>
        </p:txBody>
      </p:sp>
      <p:sp>
        <p:nvSpPr>
          <p:cNvPr id="18" name="Text 16"/>
          <p:cNvSpPr/>
          <p:nvPr/>
        </p:nvSpPr>
        <p:spPr>
          <a:xfrm>
            <a:off x="685800" y="2926080"/>
            <a:ext cx="4206240" cy="822960"/>
          </a:xfrm>
          <a:prstGeom prst="rect">
            <a:avLst/>
          </a:prstGeom>
          <a:noFill/>
          <a:ln/>
        </p:spPr>
        <p:txBody>
          <a:bodyPr wrap="square" lIns="0" tIns="0" rIns="0" bIns="0" rtlCol="0" anchor="t"/>
          <a:lstStyle/>
          <a:p>
            <a:pPr marL="0" indent="0">
              <a:buNone/>
            </a:pPr>
            <a:r>
              <a:rPr lang="en-US" sz="1100" dirty="0">
                <a:solidFill>
                  <a:srgbClr val="1A1B2E"/>
                </a:solidFill>
                <a:latin typeface="Calibri" pitchFamily="34" charset="0"/>
                <a:ea typeface="Calibri" pitchFamily="34" charset="-122"/>
                <a:cs typeface="Calibri" pitchFamily="34" charset="-120"/>
              </a:rPr>
              <a:t>This motivates </a:t>
            </a:r>
            <a:r>
              <a:rPr lang="en-US" sz="1100" b="1" dirty="0">
                <a:solidFill>
                  <a:srgbClr val="1E2761"/>
                </a:solidFill>
                <a:latin typeface="Calibri" pitchFamily="34" charset="0"/>
                <a:ea typeface="Calibri" pitchFamily="34" charset="-122"/>
                <a:cs typeface="Calibri" pitchFamily="34" charset="-120"/>
              </a:rPr>
              <a:t>unsupervised anomaly detection</a:t>
            </a:r>
            <a:r>
              <a:rPr lang="en-US" sz="1100" dirty="0">
                <a:solidFill>
                  <a:srgbClr val="1A1B2E"/>
                </a:solidFill>
                <a:latin typeface="Calibri" pitchFamily="34" charset="0"/>
                <a:ea typeface="Calibri" pitchFamily="34" charset="-122"/>
                <a:cs typeface="Calibri" pitchFamily="34" charset="-120"/>
              </a:rPr>
              <a:t>, where the model is trained only on normal data and must recognize deviations at test time.</a:t>
            </a:r>
            <a:endParaRPr lang="en-US" sz="1100" dirty="0"/>
          </a:p>
        </p:txBody>
      </p:sp>
      <p:sp>
        <p:nvSpPr>
          <p:cNvPr id="19" name="Shape 17"/>
          <p:cNvSpPr/>
          <p:nvPr/>
        </p:nvSpPr>
        <p:spPr>
          <a:xfrm>
            <a:off x="685800" y="3904488"/>
            <a:ext cx="128016" cy="128016"/>
          </a:xfrm>
          <a:prstGeom prst="rect">
            <a:avLst/>
          </a:prstGeom>
          <a:solidFill>
            <a:srgbClr val="F4A261"/>
          </a:solidFill>
          <a:ln w="12700">
            <a:solidFill>
              <a:srgbClr val="F4A261"/>
            </a:solidFill>
            <a:prstDash val="solid"/>
          </a:ln>
        </p:spPr>
        <p:txBody>
          <a:bodyPr/>
          <a:lstStyle/>
          <a:p>
            <a:endParaRPr lang="en-US"/>
          </a:p>
        </p:txBody>
      </p:sp>
      <p:sp>
        <p:nvSpPr>
          <p:cNvPr id="20" name="Text 18"/>
          <p:cNvSpPr/>
          <p:nvPr/>
        </p:nvSpPr>
        <p:spPr>
          <a:xfrm>
            <a:off x="905256" y="384048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Two tasks together</a:t>
            </a:r>
            <a:endParaRPr lang="en-US" sz="1300" dirty="0"/>
          </a:p>
        </p:txBody>
      </p:sp>
      <p:sp>
        <p:nvSpPr>
          <p:cNvPr id="21" name="Shape 19"/>
          <p:cNvSpPr/>
          <p:nvPr/>
        </p:nvSpPr>
        <p:spPr>
          <a:xfrm>
            <a:off x="740664" y="4247388"/>
            <a:ext cx="82296" cy="82296"/>
          </a:xfrm>
          <a:prstGeom prst="rect">
            <a:avLst/>
          </a:prstGeom>
          <a:solidFill>
            <a:srgbClr val="F4A261"/>
          </a:solidFill>
          <a:ln w="12700">
            <a:solidFill>
              <a:srgbClr val="F4A261"/>
            </a:solidFill>
            <a:prstDash val="solid"/>
          </a:ln>
        </p:spPr>
        <p:txBody>
          <a:bodyPr/>
          <a:lstStyle/>
          <a:p>
            <a:endParaRPr lang="en-US"/>
          </a:p>
        </p:txBody>
      </p:sp>
      <p:sp>
        <p:nvSpPr>
          <p:cNvPr id="22" name="Text 20"/>
          <p:cNvSpPr/>
          <p:nvPr/>
        </p:nvSpPr>
        <p:spPr>
          <a:xfrm>
            <a:off x="960120" y="4160520"/>
            <a:ext cx="3931920" cy="219456"/>
          </a:xfrm>
          <a:prstGeom prst="rect">
            <a:avLst/>
          </a:prstGeom>
          <a:noFill/>
          <a:ln/>
        </p:spPr>
        <p:txBody>
          <a:bodyPr wrap="square" lIns="0" tIns="0" rIns="0" bIns="0" rtlCol="0" anchor="ctr"/>
          <a:lstStyle/>
          <a:p>
            <a:pPr marL="0" indent="0">
              <a:buNone/>
            </a:pPr>
            <a:r>
              <a:rPr lang="en-US" sz="1100" b="1" dirty="0">
                <a:solidFill>
                  <a:srgbClr val="1A1B2E"/>
                </a:solidFill>
                <a:latin typeface="Calibri" pitchFamily="34" charset="0"/>
                <a:ea typeface="Calibri" pitchFamily="34" charset="-122"/>
                <a:cs typeface="Calibri" pitchFamily="34" charset="-120"/>
              </a:rPr>
              <a:t>Image-level detection</a:t>
            </a:r>
            <a:r>
              <a:rPr lang="en-US" sz="1100" dirty="0">
                <a:solidFill>
                  <a:srgbClr val="1A1B2E"/>
                </a:solidFill>
                <a:latin typeface="Calibri" pitchFamily="34" charset="0"/>
                <a:ea typeface="Calibri" pitchFamily="34" charset="-122"/>
                <a:cs typeface="Calibri" pitchFamily="34" charset="-120"/>
              </a:rPr>
              <a:t> - is this product anomalous?</a:t>
            </a:r>
            <a:endParaRPr lang="en-US" sz="1100" dirty="0"/>
          </a:p>
        </p:txBody>
      </p:sp>
      <p:sp>
        <p:nvSpPr>
          <p:cNvPr id="23" name="Shape 21"/>
          <p:cNvSpPr/>
          <p:nvPr/>
        </p:nvSpPr>
        <p:spPr>
          <a:xfrm>
            <a:off x="731520" y="4468837"/>
            <a:ext cx="82296" cy="82296"/>
          </a:xfrm>
          <a:prstGeom prst="rect">
            <a:avLst/>
          </a:prstGeom>
          <a:solidFill>
            <a:srgbClr val="F4A261"/>
          </a:solidFill>
          <a:ln w="12700">
            <a:solidFill>
              <a:srgbClr val="F4A261"/>
            </a:solidFill>
            <a:prstDash val="solid"/>
          </a:ln>
        </p:spPr>
        <p:txBody>
          <a:bodyPr/>
          <a:lstStyle/>
          <a:p>
            <a:endParaRPr lang="en-US"/>
          </a:p>
        </p:txBody>
      </p:sp>
      <p:sp>
        <p:nvSpPr>
          <p:cNvPr id="24" name="Text 22"/>
          <p:cNvSpPr/>
          <p:nvPr/>
        </p:nvSpPr>
        <p:spPr>
          <a:xfrm>
            <a:off x="960120" y="4379976"/>
            <a:ext cx="3931920" cy="219456"/>
          </a:xfrm>
          <a:prstGeom prst="rect">
            <a:avLst/>
          </a:prstGeom>
          <a:noFill/>
          <a:ln/>
        </p:spPr>
        <p:txBody>
          <a:bodyPr wrap="square" lIns="0" tIns="0" rIns="0" bIns="0" rtlCol="0" anchor="ctr"/>
          <a:lstStyle/>
          <a:p>
            <a:pPr marL="0" indent="0">
              <a:buNone/>
            </a:pPr>
            <a:r>
              <a:rPr lang="en-US" sz="1100" b="1" dirty="0">
                <a:solidFill>
                  <a:srgbClr val="1A1B2E"/>
                </a:solidFill>
                <a:latin typeface="Calibri" pitchFamily="34" charset="0"/>
                <a:ea typeface="Calibri" pitchFamily="34" charset="-122"/>
                <a:cs typeface="Calibri" pitchFamily="34" charset="-120"/>
              </a:rPr>
              <a:t>Pixel-level localization</a:t>
            </a:r>
            <a:r>
              <a:rPr lang="en-US" sz="1100" dirty="0">
                <a:solidFill>
                  <a:srgbClr val="1A1B2E"/>
                </a:solidFill>
                <a:latin typeface="Calibri" pitchFamily="34" charset="0"/>
                <a:ea typeface="Calibri" pitchFamily="34" charset="-122"/>
                <a:cs typeface="Calibri" pitchFamily="34" charset="-120"/>
              </a:rPr>
              <a:t> - where is the defect?</a:t>
            </a:r>
            <a:endParaRPr lang="en-US" sz="1100" dirty="0"/>
          </a:p>
        </p:txBody>
      </p:sp>
      <p:pic>
        <p:nvPicPr>
          <p:cNvPr id="32" name="Picture 31">
            <a:extLst>
              <a:ext uri="{FF2B5EF4-FFF2-40B4-BE49-F238E27FC236}">
                <a16:creationId xmlns:a16="http://schemas.microsoft.com/office/drawing/2014/main" id="{C35C7BDD-C014-11A1-23D1-CBB657BFF44F}"/>
              </a:ext>
            </a:extLst>
          </p:cNvPr>
          <p:cNvPicPr>
            <a:picLocks noChangeAspect="1"/>
          </p:cNvPicPr>
          <p:nvPr/>
        </p:nvPicPr>
        <p:blipFill>
          <a:blip r:embed="rId3"/>
          <a:stretch>
            <a:fillRect/>
          </a:stretch>
        </p:blipFill>
        <p:spPr>
          <a:xfrm>
            <a:off x="5120640" y="1221310"/>
            <a:ext cx="1644416" cy="1791052"/>
          </a:xfrm>
          <a:prstGeom prst="rect">
            <a:avLst/>
          </a:prstGeom>
        </p:spPr>
      </p:pic>
      <p:pic>
        <p:nvPicPr>
          <p:cNvPr id="33" name="Picture 32">
            <a:extLst>
              <a:ext uri="{FF2B5EF4-FFF2-40B4-BE49-F238E27FC236}">
                <a16:creationId xmlns:a16="http://schemas.microsoft.com/office/drawing/2014/main" id="{7989C1A4-9727-D8B8-949B-972CE310D2C4}"/>
              </a:ext>
            </a:extLst>
          </p:cNvPr>
          <p:cNvPicPr>
            <a:picLocks noChangeAspect="1"/>
          </p:cNvPicPr>
          <p:nvPr/>
        </p:nvPicPr>
        <p:blipFill>
          <a:blip r:embed="rId4"/>
          <a:stretch>
            <a:fillRect/>
          </a:stretch>
        </p:blipFill>
        <p:spPr>
          <a:xfrm>
            <a:off x="6763672" y="2908964"/>
            <a:ext cx="1694528" cy="1791052"/>
          </a:xfrm>
          <a:prstGeom prst="rect">
            <a:avLst/>
          </a:prstGeom>
        </p:spPr>
      </p:pic>
      <p:sp>
        <p:nvSpPr>
          <p:cNvPr id="34" name="TextBox 33">
            <a:extLst>
              <a:ext uri="{FF2B5EF4-FFF2-40B4-BE49-F238E27FC236}">
                <a16:creationId xmlns:a16="http://schemas.microsoft.com/office/drawing/2014/main" id="{42D20FE4-7E6C-8E8A-DF82-9E9F6100C022}"/>
              </a:ext>
            </a:extLst>
          </p:cNvPr>
          <p:cNvSpPr txBox="1"/>
          <p:nvPr/>
        </p:nvSpPr>
        <p:spPr>
          <a:xfrm>
            <a:off x="7075357" y="1490472"/>
            <a:ext cx="1373699" cy="307777"/>
          </a:xfrm>
          <a:prstGeom prst="rect">
            <a:avLst/>
          </a:prstGeom>
          <a:solidFill>
            <a:schemeClr val="accent1">
              <a:lumMod val="75000"/>
            </a:schemeClr>
          </a:solidFill>
        </p:spPr>
        <p:txBody>
          <a:bodyPr wrap="square" rtlCol="0">
            <a:spAutoFit/>
          </a:bodyPr>
          <a:lstStyle/>
          <a:p>
            <a:r>
              <a:rPr lang="en-US" b="1" dirty="0">
                <a:solidFill>
                  <a:schemeClr val="tx2"/>
                </a:solidFill>
              </a:rPr>
              <a:t>Normal</a:t>
            </a:r>
          </a:p>
        </p:txBody>
      </p:sp>
      <p:sp>
        <p:nvSpPr>
          <p:cNvPr id="35" name="TextBox 34">
            <a:extLst>
              <a:ext uri="{FF2B5EF4-FFF2-40B4-BE49-F238E27FC236}">
                <a16:creationId xmlns:a16="http://schemas.microsoft.com/office/drawing/2014/main" id="{29577DBF-0404-AF2F-4BE2-1F7AD16D86B6}"/>
              </a:ext>
            </a:extLst>
          </p:cNvPr>
          <p:cNvSpPr txBox="1"/>
          <p:nvPr/>
        </p:nvSpPr>
        <p:spPr>
          <a:xfrm>
            <a:off x="5209082" y="3515193"/>
            <a:ext cx="1439056" cy="307777"/>
          </a:xfrm>
          <a:prstGeom prst="rect">
            <a:avLst/>
          </a:prstGeom>
          <a:solidFill>
            <a:schemeClr val="accent1">
              <a:lumMod val="75000"/>
            </a:schemeClr>
          </a:solidFill>
        </p:spPr>
        <p:txBody>
          <a:bodyPr wrap="square" rtlCol="0">
            <a:spAutoFit/>
          </a:bodyPr>
          <a:lstStyle/>
          <a:p>
            <a:r>
              <a:rPr lang="en-US" b="1" dirty="0">
                <a:solidFill>
                  <a:schemeClr val="tx2"/>
                </a:solidFill>
              </a:rPr>
              <a:t>Anomalous</a:t>
            </a:r>
          </a:p>
        </p:txBody>
      </p:sp>
      <p:sp>
        <p:nvSpPr>
          <p:cNvPr id="25" name="Shape 1">
            <a:extLst>
              <a:ext uri="{FF2B5EF4-FFF2-40B4-BE49-F238E27FC236}">
                <a16:creationId xmlns:a16="http://schemas.microsoft.com/office/drawing/2014/main" id="{06CD67CC-D4D8-8FBC-A724-D0375C8A52A4}"/>
              </a:ext>
            </a:extLst>
          </p:cNvPr>
          <p:cNvSpPr/>
          <p:nvPr/>
        </p:nvSpPr>
        <p:spPr>
          <a:xfrm>
            <a:off x="7075357" y="1756234"/>
            <a:ext cx="1373698" cy="45719"/>
          </a:xfrm>
          <a:prstGeom prst="rect">
            <a:avLst/>
          </a:prstGeom>
          <a:solidFill>
            <a:srgbClr val="F4A261"/>
          </a:solidFill>
          <a:ln w="12700">
            <a:solidFill>
              <a:srgbClr val="F4A261"/>
            </a:solidFill>
            <a:prstDash val="solid"/>
          </a:ln>
        </p:spPr>
        <p:txBody>
          <a:bodyPr/>
          <a:lstStyle/>
          <a:p>
            <a:endParaRPr lang="en-US"/>
          </a:p>
        </p:txBody>
      </p:sp>
      <p:sp>
        <p:nvSpPr>
          <p:cNvPr id="26" name="Shape 1">
            <a:extLst>
              <a:ext uri="{FF2B5EF4-FFF2-40B4-BE49-F238E27FC236}">
                <a16:creationId xmlns:a16="http://schemas.microsoft.com/office/drawing/2014/main" id="{D0556830-6D6B-4FAD-3D09-BC80A6455740}"/>
              </a:ext>
            </a:extLst>
          </p:cNvPr>
          <p:cNvSpPr/>
          <p:nvPr/>
        </p:nvSpPr>
        <p:spPr>
          <a:xfrm>
            <a:off x="5241761" y="3758771"/>
            <a:ext cx="1373698" cy="45719"/>
          </a:xfrm>
          <a:prstGeom prst="rect">
            <a:avLst/>
          </a:prstGeom>
          <a:solidFill>
            <a:srgbClr val="F4A261"/>
          </a:solidFill>
          <a:ln w="12700">
            <a:solidFill>
              <a:srgbClr val="F4A261"/>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APPROACH</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 Solution Overview</a:t>
            </a:r>
            <a:endParaRPr lang="en-US" sz="2200" dirty="0"/>
          </a:p>
        </p:txBody>
      </p:sp>
      <p:sp>
        <p:nvSpPr>
          <p:cNvPr id="9" name="Shape 7"/>
          <p:cNvSpPr/>
          <p:nvPr/>
        </p:nvSpPr>
        <p:spPr>
          <a:xfrm>
            <a:off x="457200" y="1188720"/>
            <a:ext cx="4572000" cy="3625596"/>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457200" y="1188720"/>
            <a:ext cx="54864" cy="3520440"/>
          </a:xfrm>
          <a:prstGeom prst="rect">
            <a:avLst/>
          </a:prstGeom>
          <a:solidFill>
            <a:srgbClr val="F4A261"/>
          </a:solidFill>
          <a:ln w="12700">
            <a:solidFill>
              <a:srgbClr val="F4A261"/>
            </a:solidFill>
            <a:prstDash val="solid"/>
          </a:ln>
        </p:spPr>
        <p:txBody>
          <a:bodyPr/>
          <a:lstStyle/>
          <a:p>
            <a:endParaRPr lang="en-US"/>
          </a:p>
        </p:txBody>
      </p:sp>
      <p:sp>
        <p:nvSpPr>
          <p:cNvPr id="11" name="Text 9"/>
          <p:cNvSpPr/>
          <p:nvPr/>
        </p:nvSpPr>
        <p:spPr>
          <a:xfrm>
            <a:off x="685800" y="1371600"/>
            <a:ext cx="4206240" cy="1280160"/>
          </a:xfrm>
          <a:prstGeom prst="rect">
            <a:avLst/>
          </a:prstGeom>
          <a:noFill/>
          <a:ln/>
        </p:spPr>
        <p:txBody>
          <a:bodyPr wrap="square" lIns="0" tIns="0" rIns="0" bIns="0" rtlCol="0" anchor="t"/>
          <a:lstStyle/>
          <a:p>
            <a:pPr marL="0" indent="0">
              <a:buNone/>
            </a:pPr>
            <a:r>
              <a:rPr lang="en-US" sz="1150" dirty="0">
                <a:solidFill>
                  <a:srgbClr val="1A1B2E"/>
                </a:solidFill>
                <a:latin typeface="Calibri" pitchFamily="34" charset="0"/>
                <a:ea typeface="Calibri" pitchFamily="34" charset="-122"/>
                <a:cs typeface="Calibri" pitchFamily="34" charset="-120"/>
              </a:rPr>
              <a:t>We train a </a:t>
            </a:r>
            <a:r>
              <a:rPr lang="en-US" sz="1150" b="1" dirty="0">
                <a:solidFill>
                  <a:schemeClr val="tx1"/>
                </a:solidFill>
                <a:latin typeface="Calibri" pitchFamily="34" charset="0"/>
                <a:cs typeface="Calibri" pitchFamily="34" charset="-120"/>
              </a:rPr>
              <a:t>DiT-Tiny diffusion model </a:t>
            </a:r>
            <a:r>
              <a:rPr lang="en-US" sz="1150" dirty="0">
                <a:solidFill>
                  <a:srgbClr val="1A1B2E"/>
                </a:solidFill>
                <a:latin typeface="Calibri" pitchFamily="34" charset="0"/>
                <a:ea typeface="Calibri" pitchFamily="34" charset="-122"/>
                <a:cs typeface="Calibri" pitchFamily="34" charset="-120"/>
              </a:rPr>
              <a:t>only on normal images. At inference, a test image is partially noised, reconstructed using</a:t>
            </a:r>
            <a:r>
              <a:rPr lang="en-US" sz="1150" b="1" dirty="0">
                <a:solidFill>
                  <a:srgbClr val="1A1B2E"/>
                </a:solidFill>
                <a:latin typeface="Calibri" pitchFamily="34" charset="0"/>
                <a:ea typeface="Calibri" pitchFamily="34" charset="-122"/>
                <a:cs typeface="Calibri" pitchFamily="34" charset="-120"/>
              </a:rPr>
              <a:t> </a:t>
            </a:r>
            <a:r>
              <a:rPr lang="en-US" sz="1150" b="1" dirty="0">
                <a:solidFill>
                  <a:schemeClr val="tx1"/>
                </a:solidFill>
                <a:latin typeface="Calibri" pitchFamily="34" charset="0"/>
                <a:ea typeface="Calibri" pitchFamily="34" charset="-122"/>
                <a:cs typeface="Calibri" pitchFamily="34" charset="-120"/>
              </a:rPr>
              <a:t>DDIM</a:t>
            </a:r>
            <a:r>
              <a:rPr lang="en-US" sz="1150" dirty="0">
                <a:solidFill>
                  <a:srgbClr val="1A1B2E"/>
                </a:solidFill>
                <a:latin typeface="Calibri" pitchFamily="34" charset="0"/>
                <a:ea typeface="Calibri" pitchFamily="34" charset="-122"/>
                <a:cs typeface="Calibri" pitchFamily="34" charset="-120"/>
              </a:rPr>
              <a:t>, and compared with the original input.</a:t>
            </a:r>
            <a:endParaRPr lang="en-US" sz="1150" dirty="0"/>
          </a:p>
        </p:txBody>
      </p:sp>
      <p:sp>
        <p:nvSpPr>
          <p:cNvPr id="12" name="Shape 10"/>
          <p:cNvSpPr/>
          <p:nvPr/>
        </p:nvSpPr>
        <p:spPr>
          <a:xfrm>
            <a:off x="685800" y="2761488"/>
            <a:ext cx="128016" cy="128016"/>
          </a:xfrm>
          <a:prstGeom prst="rect">
            <a:avLst/>
          </a:prstGeom>
          <a:solidFill>
            <a:srgbClr val="F4A261"/>
          </a:solidFill>
          <a:ln w="12700">
            <a:solidFill>
              <a:srgbClr val="F4A261"/>
            </a:solidFill>
            <a:prstDash val="solid"/>
          </a:ln>
        </p:spPr>
        <p:txBody>
          <a:bodyPr/>
          <a:lstStyle/>
          <a:p>
            <a:endParaRPr lang="en-US"/>
          </a:p>
        </p:txBody>
      </p:sp>
      <p:sp>
        <p:nvSpPr>
          <p:cNvPr id="13" name="Text 11"/>
          <p:cNvSpPr/>
          <p:nvPr/>
        </p:nvSpPr>
        <p:spPr>
          <a:xfrm>
            <a:off x="905256" y="269748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Detection pipeline</a:t>
            </a:r>
            <a:endParaRPr lang="en-US" sz="1300" dirty="0"/>
          </a:p>
        </p:txBody>
      </p:sp>
      <p:sp>
        <p:nvSpPr>
          <p:cNvPr id="14" name="Shape 12"/>
          <p:cNvSpPr/>
          <p:nvPr/>
        </p:nvSpPr>
        <p:spPr>
          <a:xfrm>
            <a:off x="740664" y="3113532"/>
            <a:ext cx="82296" cy="82296"/>
          </a:xfrm>
          <a:prstGeom prst="rect">
            <a:avLst/>
          </a:prstGeom>
          <a:solidFill>
            <a:srgbClr val="F4A261"/>
          </a:solidFill>
          <a:ln w="12700">
            <a:solidFill>
              <a:srgbClr val="F4A261"/>
            </a:solidFill>
            <a:prstDash val="solid"/>
          </a:ln>
        </p:spPr>
        <p:txBody>
          <a:bodyPr/>
          <a:lstStyle/>
          <a:p>
            <a:endParaRPr lang="en-US"/>
          </a:p>
        </p:txBody>
      </p:sp>
      <p:sp>
        <p:nvSpPr>
          <p:cNvPr id="15" name="Text 13"/>
          <p:cNvSpPr/>
          <p:nvPr/>
        </p:nvSpPr>
        <p:spPr>
          <a:xfrm>
            <a:off x="960120" y="3017520"/>
            <a:ext cx="3931920" cy="237744"/>
          </a:xfrm>
          <a:prstGeom prst="rect">
            <a:avLst/>
          </a:prstGeom>
          <a:noFill/>
          <a:ln/>
        </p:spPr>
        <p:txBody>
          <a:bodyPr wrap="square" lIns="0" tIns="0" rIns="0" bIns="0" rtlCol="0" anchor="ctr"/>
          <a:lstStyle/>
          <a:p>
            <a:pPr marL="0" indent="0">
              <a:buNone/>
            </a:pPr>
            <a:r>
              <a:rPr lang="en-US" sz="1050" dirty="0">
                <a:solidFill>
                  <a:srgbClr val="1A1B2E"/>
                </a:solidFill>
                <a:latin typeface="Calibri" pitchFamily="34" charset="0"/>
                <a:ea typeface="Calibri" pitchFamily="34" charset="-122"/>
                <a:cs typeface="Calibri" pitchFamily="34" charset="-120"/>
              </a:rPr>
              <a:t>Input test image</a:t>
            </a:r>
            <a:endParaRPr lang="en-US" sz="1050" dirty="0"/>
          </a:p>
        </p:txBody>
      </p:sp>
      <p:sp>
        <p:nvSpPr>
          <p:cNvPr id="16" name="Shape 14"/>
          <p:cNvSpPr/>
          <p:nvPr/>
        </p:nvSpPr>
        <p:spPr>
          <a:xfrm>
            <a:off x="740664" y="3351276"/>
            <a:ext cx="82296" cy="82296"/>
          </a:xfrm>
          <a:prstGeom prst="rect">
            <a:avLst/>
          </a:prstGeom>
          <a:solidFill>
            <a:srgbClr val="F4A261"/>
          </a:solidFill>
          <a:ln w="12700">
            <a:solidFill>
              <a:srgbClr val="F4A261"/>
            </a:solidFill>
            <a:prstDash val="solid"/>
          </a:ln>
        </p:spPr>
        <p:txBody>
          <a:bodyPr/>
          <a:lstStyle/>
          <a:p>
            <a:endParaRPr lang="en-US"/>
          </a:p>
        </p:txBody>
      </p:sp>
      <p:sp>
        <p:nvSpPr>
          <p:cNvPr id="17" name="Text 15"/>
          <p:cNvSpPr/>
          <p:nvPr/>
        </p:nvSpPr>
        <p:spPr>
          <a:xfrm>
            <a:off x="960120" y="3255264"/>
            <a:ext cx="3931920" cy="237744"/>
          </a:xfrm>
          <a:prstGeom prst="rect">
            <a:avLst/>
          </a:prstGeom>
          <a:noFill/>
          <a:ln/>
        </p:spPr>
        <p:txBody>
          <a:bodyPr wrap="square" lIns="0" tIns="0" rIns="0" bIns="0" rtlCol="0" anchor="ctr"/>
          <a:lstStyle/>
          <a:p>
            <a:pPr marL="0" indent="0">
              <a:buNone/>
            </a:pPr>
            <a:r>
              <a:rPr lang="en-US" sz="1050" dirty="0">
                <a:solidFill>
                  <a:srgbClr val="1A1B2E"/>
                </a:solidFill>
                <a:latin typeface="Calibri" pitchFamily="34" charset="0"/>
                <a:ea typeface="Calibri" pitchFamily="34" charset="-122"/>
                <a:cs typeface="Calibri" pitchFamily="34" charset="-120"/>
              </a:rPr>
              <a:t>Partial noising to a selected timestep</a:t>
            </a:r>
            <a:endParaRPr lang="en-US" sz="1050" dirty="0"/>
          </a:p>
        </p:txBody>
      </p:sp>
      <p:sp>
        <p:nvSpPr>
          <p:cNvPr id="18" name="Shape 16"/>
          <p:cNvSpPr/>
          <p:nvPr/>
        </p:nvSpPr>
        <p:spPr>
          <a:xfrm>
            <a:off x="740664" y="3589020"/>
            <a:ext cx="82296" cy="82296"/>
          </a:xfrm>
          <a:prstGeom prst="rect">
            <a:avLst/>
          </a:prstGeom>
          <a:solidFill>
            <a:srgbClr val="F4A261"/>
          </a:solidFill>
          <a:ln w="12700">
            <a:solidFill>
              <a:srgbClr val="F4A261"/>
            </a:solidFill>
            <a:prstDash val="solid"/>
          </a:ln>
        </p:spPr>
        <p:txBody>
          <a:bodyPr/>
          <a:lstStyle/>
          <a:p>
            <a:endParaRPr lang="en-US"/>
          </a:p>
        </p:txBody>
      </p:sp>
      <p:sp>
        <p:nvSpPr>
          <p:cNvPr id="19" name="Text 17"/>
          <p:cNvSpPr/>
          <p:nvPr/>
        </p:nvSpPr>
        <p:spPr>
          <a:xfrm>
            <a:off x="960120" y="3493008"/>
            <a:ext cx="3931920" cy="237744"/>
          </a:xfrm>
          <a:prstGeom prst="rect">
            <a:avLst/>
          </a:prstGeom>
          <a:noFill/>
          <a:ln/>
        </p:spPr>
        <p:txBody>
          <a:bodyPr wrap="square" lIns="0" tIns="0" rIns="0" bIns="0" rtlCol="0" anchor="ctr"/>
          <a:lstStyle/>
          <a:p>
            <a:pPr marL="0" indent="0">
              <a:buNone/>
            </a:pPr>
            <a:r>
              <a:rPr lang="en-US" sz="1050" dirty="0">
                <a:solidFill>
                  <a:srgbClr val="1A1B2E"/>
                </a:solidFill>
                <a:latin typeface="Calibri" pitchFamily="34" charset="0"/>
                <a:ea typeface="Calibri" pitchFamily="34" charset="-122"/>
                <a:cs typeface="Calibri" pitchFamily="34" charset="-120"/>
              </a:rPr>
              <a:t>Reconstruction with DiT-Tiny + DDIM</a:t>
            </a:r>
            <a:endParaRPr lang="en-US" sz="1050" dirty="0"/>
          </a:p>
        </p:txBody>
      </p:sp>
      <p:sp>
        <p:nvSpPr>
          <p:cNvPr id="20" name="Shape 18"/>
          <p:cNvSpPr/>
          <p:nvPr/>
        </p:nvSpPr>
        <p:spPr>
          <a:xfrm>
            <a:off x="740664" y="3826764"/>
            <a:ext cx="82296" cy="82296"/>
          </a:xfrm>
          <a:prstGeom prst="rect">
            <a:avLst/>
          </a:prstGeom>
          <a:solidFill>
            <a:srgbClr val="F4A261"/>
          </a:solidFill>
          <a:ln w="12700">
            <a:solidFill>
              <a:srgbClr val="F4A261"/>
            </a:solidFill>
            <a:prstDash val="solid"/>
          </a:ln>
        </p:spPr>
        <p:txBody>
          <a:bodyPr/>
          <a:lstStyle/>
          <a:p>
            <a:endParaRPr lang="en-US"/>
          </a:p>
        </p:txBody>
      </p:sp>
      <p:sp>
        <p:nvSpPr>
          <p:cNvPr id="21" name="Text 19"/>
          <p:cNvSpPr/>
          <p:nvPr/>
        </p:nvSpPr>
        <p:spPr>
          <a:xfrm>
            <a:off x="960120" y="3730752"/>
            <a:ext cx="3931920" cy="237744"/>
          </a:xfrm>
          <a:prstGeom prst="rect">
            <a:avLst/>
          </a:prstGeom>
          <a:noFill/>
          <a:ln/>
        </p:spPr>
        <p:txBody>
          <a:bodyPr wrap="square" lIns="0" tIns="0" rIns="0" bIns="0" rtlCol="0" anchor="ctr"/>
          <a:lstStyle/>
          <a:p>
            <a:pPr marL="0" indent="0">
              <a:buNone/>
            </a:pPr>
            <a:r>
              <a:rPr lang="en-US" sz="1050" dirty="0">
                <a:solidFill>
                  <a:srgbClr val="1A1B2E"/>
                </a:solidFill>
                <a:latin typeface="Calibri" pitchFamily="34" charset="0"/>
                <a:ea typeface="Calibri" pitchFamily="34" charset="-122"/>
                <a:cs typeface="Calibri" pitchFamily="34" charset="-120"/>
              </a:rPr>
              <a:t>Pixel-wise </a:t>
            </a:r>
            <a:r>
              <a:rPr lang="en-US" sz="1050" b="1" dirty="0">
                <a:solidFill>
                  <a:srgbClr val="1A1B2E"/>
                </a:solidFill>
                <a:latin typeface="Calibri" pitchFamily="34" charset="0"/>
                <a:ea typeface="Calibri" pitchFamily="34" charset="-122"/>
                <a:cs typeface="Calibri" pitchFamily="34" charset="-120"/>
              </a:rPr>
              <a:t>L2 anomaly map</a:t>
            </a:r>
            <a:endParaRPr lang="en-US" sz="1050" dirty="0"/>
          </a:p>
        </p:txBody>
      </p:sp>
      <p:sp>
        <p:nvSpPr>
          <p:cNvPr id="22" name="Shape 20"/>
          <p:cNvSpPr/>
          <p:nvPr/>
        </p:nvSpPr>
        <p:spPr>
          <a:xfrm>
            <a:off x="740664" y="4064508"/>
            <a:ext cx="82296" cy="82296"/>
          </a:xfrm>
          <a:prstGeom prst="rect">
            <a:avLst/>
          </a:prstGeom>
          <a:solidFill>
            <a:srgbClr val="F4A261"/>
          </a:solidFill>
          <a:ln w="12700">
            <a:solidFill>
              <a:srgbClr val="F4A261"/>
            </a:solidFill>
            <a:prstDash val="solid"/>
          </a:ln>
        </p:spPr>
        <p:txBody>
          <a:bodyPr/>
          <a:lstStyle/>
          <a:p>
            <a:endParaRPr lang="en-US"/>
          </a:p>
        </p:txBody>
      </p:sp>
      <p:sp>
        <p:nvSpPr>
          <p:cNvPr id="23" name="Text 21"/>
          <p:cNvSpPr/>
          <p:nvPr/>
        </p:nvSpPr>
        <p:spPr>
          <a:xfrm>
            <a:off x="960120" y="3968496"/>
            <a:ext cx="3931920" cy="237744"/>
          </a:xfrm>
          <a:prstGeom prst="rect">
            <a:avLst/>
          </a:prstGeom>
          <a:noFill/>
          <a:ln/>
        </p:spPr>
        <p:txBody>
          <a:bodyPr wrap="square" lIns="0" tIns="0" rIns="0" bIns="0" rtlCol="0" anchor="ctr"/>
          <a:lstStyle/>
          <a:p>
            <a:pPr marL="0" indent="0">
              <a:buNone/>
            </a:pPr>
            <a:r>
              <a:rPr lang="en-US" sz="1050" dirty="0">
                <a:solidFill>
                  <a:srgbClr val="1A1B2E"/>
                </a:solidFill>
                <a:latin typeface="Calibri" pitchFamily="34" charset="0"/>
                <a:ea typeface="Calibri" pitchFamily="34" charset="-122"/>
                <a:cs typeface="Calibri" pitchFamily="34" charset="-120"/>
              </a:rPr>
              <a:t>Max aggregation for image-level anomaly score</a:t>
            </a:r>
            <a:endParaRPr lang="en-US" sz="1050" dirty="0"/>
          </a:p>
        </p:txBody>
      </p:sp>
      <p:sp>
        <p:nvSpPr>
          <p:cNvPr id="29" name="Text 27"/>
          <p:cNvSpPr/>
          <p:nvPr/>
        </p:nvSpPr>
        <p:spPr>
          <a:xfrm>
            <a:off x="8412480" y="4754880"/>
            <a:ext cx="5029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 / 13</a:t>
            </a:r>
            <a:endParaRPr lang="en-US" sz="900" dirty="0"/>
          </a:p>
        </p:txBody>
      </p:sp>
      <p:pic>
        <p:nvPicPr>
          <p:cNvPr id="30" name="Picture 29">
            <a:extLst>
              <a:ext uri="{FF2B5EF4-FFF2-40B4-BE49-F238E27FC236}">
                <a16:creationId xmlns:a16="http://schemas.microsoft.com/office/drawing/2014/main" id="{65E4556D-218E-A22B-493F-BE8D0C614560}"/>
              </a:ext>
            </a:extLst>
          </p:cNvPr>
          <p:cNvPicPr>
            <a:picLocks noChangeAspect="1"/>
          </p:cNvPicPr>
          <p:nvPr/>
        </p:nvPicPr>
        <p:blipFill>
          <a:blip r:embed="rId3"/>
          <a:stretch>
            <a:fillRect/>
          </a:stretch>
        </p:blipFill>
        <p:spPr>
          <a:xfrm>
            <a:off x="5111499" y="1181974"/>
            <a:ext cx="3803901" cy="786834"/>
          </a:xfrm>
          <a:prstGeom prst="rect">
            <a:avLst/>
          </a:prstGeom>
        </p:spPr>
      </p:pic>
      <p:pic>
        <p:nvPicPr>
          <p:cNvPr id="31" name="Picture 30">
            <a:extLst>
              <a:ext uri="{FF2B5EF4-FFF2-40B4-BE49-F238E27FC236}">
                <a16:creationId xmlns:a16="http://schemas.microsoft.com/office/drawing/2014/main" id="{1487A39B-D84A-6378-7464-278CBF0C256E}"/>
              </a:ext>
            </a:extLst>
          </p:cNvPr>
          <p:cNvPicPr>
            <a:picLocks noChangeAspect="1"/>
          </p:cNvPicPr>
          <p:nvPr/>
        </p:nvPicPr>
        <p:blipFill>
          <a:blip r:embed="rId4"/>
          <a:stretch>
            <a:fillRect/>
          </a:stretch>
        </p:blipFill>
        <p:spPr>
          <a:xfrm>
            <a:off x="5111499" y="2264076"/>
            <a:ext cx="3803902" cy="726012"/>
          </a:xfrm>
          <a:prstGeom prst="rect">
            <a:avLst/>
          </a:prstGeom>
        </p:spPr>
      </p:pic>
      <p:pic>
        <p:nvPicPr>
          <p:cNvPr id="32" name="Picture 31">
            <a:extLst>
              <a:ext uri="{FF2B5EF4-FFF2-40B4-BE49-F238E27FC236}">
                <a16:creationId xmlns:a16="http://schemas.microsoft.com/office/drawing/2014/main" id="{ADF89ACF-5C10-E65A-1BF8-286C7C7933DA}"/>
              </a:ext>
            </a:extLst>
          </p:cNvPr>
          <p:cNvPicPr>
            <a:picLocks noChangeAspect="1"/>
          </p:cNvPicPr>
          <p:nvPr/>
        </p:nvPicPr>
        <p:blipFill>
          <a:blip r:embed="rId5"/>
          <a:stretch>
            <a:fillRect/>
          </a:stretch>
        </p:blipFill>
        <p:spPr>
          <a:xfrm>
            <a:off x="5029200" y="3232094"/>
            <a:ext cx="3949908" cy="676966"/>
          </a:xfrm>
          <a:prstGeom prst="rect">
            <a:avLst/>
          </a:prstGeom>
        </p:spPr>
      </p:pic>
      <p:pic>
        <p:nvPicPr>
          <p:cNvPr id="33" name="Picture 32">
            <a:extLst>
              <a:ext uri="{FF2B5EF4-FFF2-40B4-BE49-F238E27FC236}">
                <a16:creationId xmlns:a16="http://schemas.microsoft.com/office/drawing/2014/main" id="{A118F212-8AA3-AA94-B1C6-C1A8559B9B04}"/>
              </a:ext>
            </a:extLst>
          </p:cNvPr>
          <p:cNvPicPr>
            <a:picLocks noChangeAspect="1"/>
          </p:cNvPicPr>
          <p:nvPr/>
        </p:nvPicPr>
        <p:blipFill>
          <a:blip r:embed="rId6"/>
          <a:stretch>
            <a:fillRect/>
          </a:stretch>
        </p:blipFill>
        <p:spPr>
          <a:xfrm>
            <a:off x="5029200" y="4096012"/>
            <a:ext cx="3949908" cy="7183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STACK</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Tools and Technologies</a:t>
            </a:r>
            <a:endParaRPr lang="en-US" sz="2200" dirty="0"/>
          </a:p>
        </p:txBody>
      </p:sp>
      <p:sp>
        <p:nvSpPr>
          <p:cNvPr id="9" name="Shape 7"/>
          <p:cNvSpPr/>
          <p:nvPr/>
        </p:nvSpPr>
        <p:spPr>
          <a:xfrm>
            <a:off x="457200" y="1188720"/>
            <a:ext cx="2606040" cy="310896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457200" y="1188720"/>
            <a:ext cx="54864" cy="3108960"/>
          </a:xfrm>
          <a:prstGeom prst="rect">
            <a:avLst/>
          </a:prstGeom>
          <a:solidFill>
            <a:srgbClr val="F4A261"/>
          </a:solidFill>
          <a:ln w="12700">
            <a:solidFill>
              <a:srgbClr val="F4A261"/>
            </a:solidFill>
            <a:prstDash val="solid"/>
          </a:ln>
        </p:spPr>
        <p:txBody>
          <a:bodyPr/>
          <a:lstStyle/>
          <a:p>
            <a:endParaRPr lang="en-US"/>
          </a:p>
        </p:txBody>
      </p:sp>
      <p:sp>
        <p:nvSpPr>
          <p:cNvPr id="11" name="Text 9"/>
          <p:cNvSpPr/>
          <p:nvPr/>
        </p:nvSpPr>
        <p:spPr>
          <a:xfrm>
            <a:off x="640080" y="1325880"/>
            <a:ext cx="2331720" cy="320040"/>
          </a:xfrm>
          <a:prstGeom prst="rect">
            <a:avLst/>
          </a:prstGeom>
          <a:noFill/>
          <a:ln/>
        </p:spPr>
        <p:txBody>
          <a:bodyPr wrap="square" lIns="0" tIns="0" rIns="0" bIns="0" rtlCol="0" anchor="ctr"/>
          <a:lstStyle/>
          <a:p>
            <a:pPr marL="0" indent="0">
              <a:buNone/>
            </a:pPr>
            <a:r>
              <a:rPr lang="en-US" sz="1400" b="1" dirty="0">
                <a:solidFill>
                  <a:srgbClr val="1E2761"/>
                </a:solidFill>
                <a:latin typeface="Georgia" pitchFamily="34" charset="0"/>
                <a:ea typeface="Georgia" pitchFamily="34" charset="-122"/>
                <a:cs typeface="Georgia" pitchFamily="34" charset="-120"/>
              </a:rPr>
              <a:t>Modeling</a:t>
            </a:r>
            <a:endParaRPr lang="en-US" sz="1400" dirty="0"/>
          </a:p>
        </p:txBody>
      </p:sp>
      <p:sp>
        <p:nvSpPr>
          <p:cNvPr id="12" name="Shape 10"/>
          <p:cNvSpPr/>
          <p:nvPr/>
        </p:nvSpPr>
        <p:spPr>
          <a:xfrm>
            <a:off x="640080" y="1691640"/>
            <a:ext cx="548640" cy="22860"/>
          </a:xfrm>
          <a:prstGeom prst="rect">
            <a:avLst/>
          </a:prstGeom>
          <a:solidFill>
            <a:srgbClr val="F4A261"/>
          </a:solidFill>
          <a:ln w="12700">
            <a:solidFill>
              <a:srgbClr val="F4A261"/>
            </a:solidFill>
            <a:prstDash val="solid"/>
          </a:ln>
        </p:spPr>
        <p:txBody>
          <a:bodyPr/>
          <a:lstStyle/>
          <a:p>
            <a:endParaRPr lang="en-US"/>
          </a:p>
        </p:txBody>
      </p:sp>
      <p:sp>
        <p:nvSpPr>
          <p:cNvPr id="13" name="Shape 11"/>
          <p:cNvSpPr/>
          <p:nvPr/>
        </p:nvSpPr>
        <p:spPr>
          <a:xfrm>
            <a:off x="694944" y="2007108"/>
            <a:ext cx="82296" cy="82296"/>
          </a:xfrm>
          <a:prstGeom prst="rect">
            <a:avLst/>
          </a:prstGeom>
          <a:solidFill>
            <a:srgbClr val="F4A261"/>
          </a:solidFill>
          <a:ln w="12700">
            <a:solidFill>
              <a:srgbClr val="F4A261"/>
            </a:solidFill>
            <a:prstDash val="solid"/>
          </a:ln>
        </p:spPr>
        <p:txBody>
          <a:bodyPr/>
          <a:lstStyle/>
          <a:p>
            <a:endParaRPr lang="en-US"/>
          </a:p>
        </p:txBody>
      </p:sp>
      <p:sp>
        <p:nvSpPr>
          <p:cNvPr id="14" name="Text 12"/>
          <p:cNvSpPr/>
          <p:nvPr/>
        </p:nvSpPr>
        <p:spPr>
          <a:xfrm>
            <a:off x="914400" y="1874520"/>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Python</a:t>
            </a:r>
            <a:endParaRPr lang="en-US" sz="1150" dirty="0"/>
          </a:p>
        </p:txBody>
      </p:sp>
      <p:sp>
        <p:nvSpPr>
          <p:cNvPr id="15" name="Shape 13"/>
          <p:cNvSpPr/>
          <p:nvPr/>
        </p:nvSpPr>
        <p:spPr>
          <a:xfrm>
            <a:off x="694944" y="2318004"/>
            <a:ext cx="82296" cy="82296"/>
          </a:xfrm>
          <a:prstGeom prst="rect">
            <a:avLst/>
          </a:prstGeom>
          <a:solidFill>
            <a:srgbClr val="F4A261"/>
          </a:solidFill>
          <a:ln w="12700">
            <a:solidFill>
              <a:srgbClr val="F4A261"/>
            </a:solidFill>
            <a:prstDash val="solid"/>
          </a:ln>
        </p:spPr>
        <p:txBody>
          <a:bodyPr/>
          <a:lstStyle/>
          <a:p>
            <a:endParaRPr lang="en-US"/>
          </a:p>
        </p:txBody>
      </p:sp>
      <p:sp>
        <p:nvSpPr>
          <p:cNvPr id="16" name="Text 14"/>
          <p:cNvSpPr/>
          <p:nvPr/>
        </p:nvSpPr>
        <p:spPr>
          <a:xfrm>
            <a:off x="914400" y="2185416"/>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PyTorch</a:t>
            </a:r>
            <a:endParaRPr lang="en-US" sz="1150" dirty="0"/>
          </a:p>
        </p:txBody>
      </p:sp>
      <p:sp>
        <p:nvSpPr>
          <p:cNvPr id="17" name="Shape 15"/>
          <p:cNvSpPr/>
          <p:nvPr/>
        </p:nvSpPr>
        <p:spPr>
          <a:xfrm>
            <a:off x="694944" y="2628900"/>
            <a:ext cx="82296" cy="82296"/>
          </a:xfrm>
          <a:prstGeom prst="rect">
            <a:avLst/>
          </a:prstGeom>
          <a:solidFill>
            <a:srgbClr val="F4A261"/>
          </a:solidFill>
          <a:ln w="12700">
            <a:solidFill>
              <a:srgbClr val="F4A261"/>
            </a:solidFill>
            <a:prstDash val="solid"/>
          </a:ln>
        </p:spPr>
        <p:txBody>
          <a:bodyPr/>
          <a:lstStyle/>
          <a:p>
            <a:endParaRPr lang="en-US"/>
          </a:p>
        </p:txBody>
      </p:sp>
      <p:sp>
        <p:nvSpPr>
          <p:cNvPr id="18" name="Text 16"/>
          <p:cNvSpPr/>
          <p:nvPr/>
        </p:nvSpPr>
        <p:spPr>
          <a:xfrm>
            <a:off x="914400" y="2496312"/>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Diffusion Models</a:t>
            </a:r>
            <a:endParaRPr lang="en-US" sz="1150" dirty="0"/>
          </a:p>
        </p:txBody>
      </p:sp>
      <p:sp>
        <p:nvSpPr>
          <p:cNvPr id="19" name="Shape 17"/>
          <p:cNvSpPr/>
          <p:nvPr/>
        </p:nvSpPr>
        <p:spPr>
          <a:xfrm>
            <a:off x="694944" y="2939796"/>
            <a:ext cx="82296" cy="82296"/>
          </a:xfrm>
          <a:prstGeom prst="rect">
            <a:avLst/>
          </a:prstGeom>
          <a:solidFill>
            <a:srgbClr val="F4A261"/>
          </a:solidFill>
          <a:ln w="12700">
            <a:solidFill>
              <a:srgbClr val="F4A261"/>
            </a:solidFill>
            <a:prstDash val="solid"/>
          </a:ln>
        </p:spPr>
        <p:txBody>
          <a:bodyPr/>
          <a:lstStyle/>
          <a:p>
            <a:endParaRPr lang="en-US"/>
          </a:p>
        </p:txBody>
      </p:sp>
      <p:sp>
        <p:nvSpPr>
          <p:cNvPr id="20" name="Text 18"/>
          <p:cNvSpPr/>
          <p:nvPr/>
        </p:nvSpPr>
        <p:spPr>
          <a:xfrm>
            <a:off x="914400" y="2807208"/>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DiT-Tiny</a:t>
            </a:r>
            <a:endParaRPr lang="en-US" sz="1150" dirty="0"/>
          </a:p>
        </p:txBody>
      </p:sp>
      <p:sp>
        <p:nvSpPr>
          <p:cNvPr id="21" name="Shape 19"/>
          <p:cNvSpPr/>
          <p:nvPr/>
        </p:nvSpPr>
        <p:spPr>
          <a:xfrm>
            <a:off x="694944" y="3250692"/>
            <a:ext cx="82296" cy="82296"/>
          </a:xfrm>
          <a:prstGeom prst="rect">
            <a:avLst/>
          </a:prstGeom>
          <a:solidFill>
            <a:srgbClr val="F4A261"/>
          </a:solidFill>
          <a:ln w="12700">
            <a:solidFill>
              <a:srgbClr val="F4A261"/>
            </a:solidFill>
            <a:prstDash val="solid"/>
          </a:ln>
        </p:spPr>
        <p:txBody>
          <a:bodyPr/>
          <a:lstStyle/>
          <a:p>
            <a:endParaRPr lang="en-US"/>
          </a:p>
        </p:txBody>
      </p:sp>
      <p:sp>
        <p:nvSpPr>
          <p:cNvPr id="22" name="Text 20"/>
          <p:cNvSpPr/>
          <p:nvPr/>
        </p:nvSpPr>
        <p:spPr>
          <a:xfrm>
            <a:off x="914400" y="3118104"/>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DDIM</a:t>
            </a:r>
            <a:endParaRPr lang="en-US" sz="1150" dirty="0"/>
          </a:p>
        </p:txBody>
      </p:sp>
      <p:sp>
        <p:nvSpPr>
          <p:cNvPr id="23" name="Shape 21"/>
          <p:cNvSpPr/>
          <p:nvPr/>
        </p:nvSpPr>
        <p:spPr>
          <a:xfrm>
            <a:off x="3383280" y="1188720"/>
            <a:ext cx="2606040" cy="310896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24" name="Shape 22"/>
          <p:cNvSpPr/>
          <p:nvPr/>
        </p:nvSpPr>
        <p:spPr>
          <a:xfrm>
            <a:off x="3383280" y="1188720"/>
            <a:ext cx="54864" cy="3108960"/>
          </a:xfrm>
          <a:prstGeom prst="rect">
            <a:avLst/>
          </a:prstGeom>
          <a:solidFill>
            <a:srgbClr val="F4A261"/>
          </a:solidFill>
          <a:ln w="12700">
            <a:solidFill>
              <a:srgbClr val="F4A261"/>
            </a:solidFill>
            <a:prstDash val="solid"/>
          </a:ln>
        </p:spPr>
        <p:txBody>
          <a:bodyPr/>
          <a:lstStyle/>
          <a:p>
            <a:endParaRPr lang="en-US"/>
          </a:p>
        </p:txBody>
      </p:sp>
      <p:sp>
        <p:nvSpPr>
          <p:cNvPr id="25" name="Text 23"/>
          <p:cNvSpPr/>
          <p:nvPr/>
        </p:nvSpPr>
        <p:spPr>
          <a:xfrm>
            <a:off x="3566160" y="1325880"/>
            <a:ext cx="2331720" cy="320040"/>
          </a:xfrm>
          <a:prstGeom prst="rect">
            <a:avLst/>
          </a:prstGeom>
          <a:noFill/>
          <a:ln/>
        </p:spPr>
        <p:txBody>
          <a:bodyPr wrap="square" lIns="0" tIns="0" rIns="0" bIns="0" rtlCol="0" anchor="ctr"/>
          <a:lstStyle/>
          <a:p>
            <a:pPr marL="0" indent="0">
              <a:buNone/>
            </a:pPr>
            <a:r>
              <a:rPr lang="en-US" sz="1400" b="1" dirty="0">
                <a:solidFill>
                  <a:srgbClr val="1E2761"/>
                </a:solidFill>
                <a:latin typeface="Georgia" pitchFamily="34" charset="0"/>
                <a:ea typeface="Georgia" pitchFamily="34" charset="-122"/>
                <a:cs typeface="Georgia" pitchFamily="34" charset="-120"/>
              </a:rPr>
              <a:t>Data &amp; Evaluation</a:t>
            </a:r>
            <a:endParaRPr lang="en-US" sz="1400" dirty="0"/>
          </a:p>
        </p:txBody>
      </p:sp>
      <p:sp>
        <p:nvSpPr>
          <p:cNvPr id="26" name="Shape 24"/>
          <p:cNvSpPr/>
          <p:nvPr/>
        </p:nvSpPr>
        <p:spPr>
          <a:xfrm>
            <a:off x="3566160" y="1691640"/>
            <a:ext cx="548640" cy="22860"/>
          </a:xfrm>
          <a:prstGeom prst="rect">
            <a:avLst/>
          </a:prstGeom>
          <a:solidFill>
            <a:srgbClr val="F4A261"/>
          </a:solidFill>
          <a:ln w="12700">
            <a:solidFill>
              <a:srgbClr val="F4A261"/>
            </a:solidFill>
            <a:prstDash val="solid"/>
          </a:ln>
        </p:spPr>
        <p:txBody>
          <a:bodyPr/>
          <a:lstStyle/>
          <a:p>
            <a:endParaRPr lang="en-US"/>
          </a:p>
        </p:txBody>
      </p:sp>
      <p:sp>
        <p:nvSpPr>
          <p:cNvPr id="27" name="Shape 25"/>
          <p:cNvSpPr/>
          <p:nvPr/>
        </p:nvSpPr>
        <p:spPr>
          <a:xfrm>
            <a:off x="3621024" y="2007108"/>
            <a:ext cx="82296" cy="82296"/>
          </a:xfrm>
          <a:prstGeom prst="rect">
            <a:avLst/>
          </a:prstGeom>
          <a:solidFill>
            <a:srgbClr val="F4A261"/>
          </a:solidFill>
          <a:ln w="12700">
            <a:solidFill>
              <a:srgbClr val="F4A261"/>
            </a:solidFill>
            <a:prstDash val="solid"/>
          </a:ln>
        </p:spPr>
        <p:txBody>
          <a:bodyPr/>
          <a:lstStyle/>
          <a:p>
            <a:endParaRPr lang="en-US"/>
          </a:p>
        </p:txBody>
      </p:sp>
      <p:sp>
        <p:nvSpPr>
          <p:cNvPr id="28" name="Text 26"/>
          <p:cNvSpPr/>
          <p:nvPr/>
        </p:nvSpPr>
        <p:spPr>
          <a:xfrm>
            <a:off x="3840480" y="1874520"/>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MVTec AD</a:t>
            </a:r>
            <a:endParaRPr lang="en-US" sz="1150" dirty="0"/>
          </a:p>
        </p:txBody>
      </p:sp>
      <p:sp>
        <p:nvSpPr>
          <p:cNvPr id="29" name="Shape 27"/>
          <p:cNvSpPr/>
          <p:nvPr/>
        </p:nvSpPr>
        <p:spPr>
          <a:xfrm>
            <a:off x="3621024" y="2318004"/>
            <a:ext cx="82296" cy="82296"/>
          </a:xfrm>
          <a:prstGeom prst="rect">
            <a:avLst/>
          </a:prstGeom>
          <a:solidFill>
            <a:srgbClr val="F4A261"/>
          </a:solidFill>
          <a:ln w="12700">
            <a:solidFill>
              <a:srgbClr val="F4A261"/>
            </a:solidFill>
            <a:prstDash val="solid"/>
          </a:ln>
        </p:spPr>
        <p:txBody>
          <a:bodyPr/>
          <a:lstStyle/>
          <a:p>
            <a:endParaRPr lang="en-US"/>
          </a:p>
        </p:txBody>
      </p:sp>
      <p:sp>
        <p:nvSpPr>
          <p:cNvPr id="30" name="Text 28"/>
          <p:cNvSpPr/>
          <p:nvPr/>
        </p:nvSpPr>
        <p:spPr>
          <a:xfrm>
            <a:off x="3840480" y="2185416"/>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NumPy</a:t>
            </a:r>
            <a:endParaRPr lang="en-US" sz="1150" dirty="0"/>
          </a:p>
        </p:txBody>
      </p:sp>
      <p:sp>
        <p:nvSpPr>
          <p:cNvPr id="31" name="Shape 29"/>
          <p:cNvSpPr/>
          <p:nvPr/>
        </p:nvSpPr>
        <p:spPr>
          <a:xfrm>
            <a:off x="3621024" y="2628900"/>
            <a:ext cx="82296" cy="82296"/>
          </a:xfrm>
          <a:prstGeom prst="rect">
            <a:avLst/>
          </a:prstGeom>
          <a:solidFill>
            <a:srgbClr val="F4A261"/>
          </a:solidFill>
          <a:ln w="12700">
            <a:solidFill>
              <a:srgbClr val="F4A261"/>
            </a:solidFill>
            <a:prstDash val="solid"/>
          </a:ln>
        </p:spPr>
        <p:txBody>
          <a:bodyPr/>
          <a:lstStyle/>
          <a:p>
            <a:endParaRPr lang="en-US"/>
          </a:p>
        </p:txBody>
      </p:sp>
      <p:sp>
        <p:nvSpPr>
          <p:cNvPr id="32" name="Text 30"/>
          <p:cNvSpPr/>
          <p:nvPr/>
        </p:nvSpPr>
        <p:spPr>
          <a:xfrm>
            <a:off x="3840480" y="2496312"/>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Pandas</a:t>
            </a:r>
            <a:endParaRPr lang="en-US" sz="1150" dirty="0"/>
          </a:p>
        </p:txBody>
      </p:sp>
      <p:sp>
        <p:nvSpPr>
          <p:cNvPr id="33" name="Shape 31"/>
          <p:cNvSpPr/>
          <p:nvPr/>
        </p:nvSpPr>
        <p:spPr>
          <a:xfrm>
            <a:off x="3621024" y="2939796"/>
            <a:ext cx="82296" cy="82296"/>
          </a:xfrm>
          <a:prstGeom prst="rect">
            <a:avLst/>
          </a:prstGeom>
          <a:solidFill>
            <a:srgbClr val="F4A261"/>
          </a:solidFill>
          <a:ln w="12700">
            <a:solidFill>
              <a:srgbClr val="F4A261"/>
            </a:solidFill>
            <a:prstDash val="solid"/>
          </a:ln>
        </p:spPr>
        <p:txBody>
          <a:bodyPr/>
          <a:lstStyle/>
          <a:p>
            <a:endParaRPr lang="en-US"/>
          </a:p>
        </p:txBody>
      </p:sp>
      <p:sp>
        <p:nvSpPr>
          <p:cNvPr id="34" name="Text 32"/>
          <p:cNvSpPr/>
          <p:nvPr/>
        </p:nvSpPr>
        <p:spPr>
          <a:xfrm>
            <a:off x="3840480" y="2807208"/>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scikit-learn</a:t>
            </a:r>
            <a:endParaRPr lang="en-US" sz="1150" dirty="0"/>
          </a:p>
        </p:txBody>
      </p:sp>
      <p:sp>
        <p:nvSpPr>
          <p:cNvPr id="35" name="Shape 33"/>
          <p:cNvSpPr/>
          <p:nvPr/>
        </p:nvSpPr>
        <p:spPr>
          <a:xfrm>
            <a:off x="3621024" y="3250692"/>
            <a:ext cx="82296" cy="82296"/>
          </a:xfrm>
          <a:prstGeom prst="rect">
            <a:avLst/>
          </a:prstGeom>
          <a:solidFill>
            <a:srgbClr val="F4A261"/>
          </a:solidFill>
          <a:ln w="12700">
            <a:solidFill>
              <a:srgbClr val="F4A261"/>
            </a:solidFill>
            <a:prstDash val="solid"/>
          </a:ln>
        </p:spPr>
        <p:txBody>
          <a:bodyPr/>
          <a:lstStyle/>
          <a:p>
            <a:endParaRPr lang="en-US"/>
          </a:p>
        </p:txBody>
      </p:sp>
      <p:sp>
        <p:nvSpPr>
          <p:cNvPr id="36" name="Text 34"/>
          <p:cNvSpPr/>
          <p:nvPr/>
        </p:nvSpPr>
        <p:spPr>
          <a:xfrm>
            <a:off x="3840480" y="3118104"/>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Matplotlib</a:t>
            </a:r>
            <a:endParaRPr lang="en-US" sz="1150" dirty="0"/>
          </a:p>
        </p:txBody>
      </p:sp>
      <p:sp>
        <p:nvSpPr>
          <p:cNvPr id="37" name="Shape 35"/>
          <p:cNvSpPr/>
          <p:nvPr/>
        </p:nvSpPr>
        <p:spPr>
          <a:xfrm>
            <a:off x="6309360" y="1188720"/>
            <a:ext cx="2606040" cy="310896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38" name="Shape 36"/>
          <p:cNvSpPr/>
          <p:nvPr/>
        </p:nvSpPr>
        <p:spPr>
          <a:xfrm>
            <a:off x="6309360" y="1188720"/>
            <a:ext cx="54864" cy="3108960"/>
          </a:xfrm>
          <a:prstGeom prst="rect">
            <a:avLst/>
          </a:prstGeom>
          <a:solidFill>
            <a:srgbClr val="F4A261"/>
          </a:solidFill>
          <a:ln w="12700">
            <a:solidFill>
              <a:srgbClr val="F4A261"/>
            </a:solidFill>
            <a:prstDash val="solid"/>
          </a:ln>
        </p:spPr>
        <p:txBody>
          <a:bodyPr/>
          <a:lstStyle/>
          <a:p>
            <a:endParaRPr lang="en-US"/>
          </a:p>
        </p:txBody>
      </p:sp>
      <p:sp>
        <p:nvSpPr>
          <p:cNvPr id="39" name="Text 37"/>
          <p:cNvSpPr/>
          <p:nvPr/>
        </p:nvSpPr>
        <p:spPr>
          <a:xfrm>
            <a:off x="6492240" y="1325880"/>
            <a:ext cx="2331720" cy="320040"/>
          </a:xfrm>
          <a:prstGeom prst="rect">
            <a:avLst/>
          </a:prstGeom>
          <a:noFill/>
          <a:ln/>
        </p:spPr>
        <p:txBody>
          <a:bodyPr wrap="square" lIns="0" tIns="0" rIns="0" bIns="0" rtlCol="0" anchor="ctr"/>
          <a:lstStyle/>
          <a:p>
            <a:pPr marL="0" indent="0">
              <a:buNone/>
            </a:pPr>
            <a:r>
              <a:rPr lang="en-US" sz="1400" b="1" dirty="0">
                <a:solidFill>
                  <a:srgbClr val="1E2761"/>
                </a:solidFill>
                <a:latin typeface="Georgia" pitchFamily="34" charset="0"/>
                <a:ea typeface="Georgia" pitchFamily="34" charset="-122"/>
                <a:cs typeface="Georgia" pitchFamily="34" charset="-120"/>
              </a:rPr>
              <a:t>Experimentation</a:t>
            </a:r>
            <a:endParaRPr lang="en-US" sz="1400" dirty="0"/>
          </a:p>
        </p:txBody>
      </p:sp>
      <p:sp>
        <p:nvSpPr>
          <p:cNvPr id="40" name="Shape 38"/>
          <p:cNvSpPr/>
          <p:nvPr/>
        </p:nvSpPr>
        <p:spPr>
          <a:xfrm>
            <a:off x="6492240" y="1691640"/>
            <a:ext cx="548640" cy="22860"/>
          </a:xfrm>
          <a:prstGeom prst="rect">
            <a:avLst/>
          </a:prstGeom>
          <a:solidFill>
            <a:srgbClr val="F4A261"/>
          </a:solidFill>
          <a:ln w="12700">
            <a:solidFill>
              <a:srgbClr val="F4A261"/>
            </a:solidFill>
            <a:prstDash val="solid"/>
          </a:ln>
        </p:spPr>
        <p:txBody>
          <a:bodyPr/>
          <a:lstStyle/>
          <a:p>
            <a:endParaRPr lang="en-US"/>
          </a:p>
        </p:txBody>
      </p:sp>
      <p:sp>
        <p:nvSpPr>
          <p:cNvPr id="41" name="Shape 39"/>
          <p:cNvSpPr/>
          <p:nvPr/>
        </p:nvSpPr>
        <p:spPr>
          <a:xfrm>
            <a:off x="6547104" y="2007108"/>
            <a:ext cx="82296" cy="82296"/>
          </a:xfrm>
          <a:prstGeom prst="rect">
            <a:avLst/>
          </a:prstGeom>
          <a:solidFill>
            <a:srgbClr val="F4A261"/>
          </a:solidFill>
          <a:ln w="12700">
            <a:solidFill>
              <a:srgbClr val="F4A261"/>
            </a:solidFill>
            <a:prstDash val="solid"/>
          </a:ln>
        </p:spPr>
        <p:txBody>
          <a:bodyPr/>
          <a:lstStyle/>
          <a:p>
            <a:endParaRPr lang="en-US"/>
          </a:p>
        </p:txBody>
      </p:sp>
      <p:sp>
        <p:nvSpPr>
          <p:cNvPr id="42" name="Text 40"/>
          <p:cNvSpPr/>
          <p:nvPr/>
        </p:nvSpPr>
        <p:spPr>
          <a:xfrm>
            <a:off x="6766560" y="1874520"/>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Google Colab T4</a:t>
            </a:r>
            <a:endParaRPr lang="en-US" sz="1150" dirty="0"/>
          </a:p>
        </p:txBody>
      </p:sp>
      <p:sp>
        <p:nvSpPr>
          <p:cNvPr id="43" name="Shape 41"/>
          <p:cNvSpPr/>
          <p:nvPr/>
        </p:nvSpPr>
        <p:spPr>
          <a:xfrm>
            <a:off x="6547104" y="2318004"/>
            <a:ext cx="82296" cy="82296"/>
          </a:xfrm>
          <a:prstGeom prst="rect">
            <a:avLst/>
          </a:prstGeom>
          <a:solidFill>
            <a:srgbClr val="F4A261"/>
          </a:solidFill>
          <a:ln w="12700">
            <a:solidFill>
              <a:srgbClr val="F4A261"/>
            </a:solidFill>
            <a:prstDash val="solid"/>
          </a:ln>
        </p:spPr>
        <p:txBody>
          <a:bodyPr/>
          <a:lstStyle/>
          <a:p>
            <a:endParaRPr lang="en-US"/>
          </a:p>
        </p:txBody>
      </p:sp>
      <p:sp>
        <p:nvSpPr>
          <p:cNvPr id="44" name="Text 42"/>
          <p:cNvSpPr/>
          <p:nvPr/>
        </p:nvSpPr>
        <p:spPr>
          <a:xfrm>
            <a:off x="6766560" y="2185416"/>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Kaggle</a:t>
            </a:r>
            <a:endParaRPr lang="en-US" sz="1150" dirty="0"/>
          </a:p>
        </p:txBody>
      </p:sp>
      <p:sp>
        <p:nvSpPr>
          <p:cNvPr id="45" name="Shape 43"/>
          <p:cNvSpPr/>
          <p:nvPr/>
        </p:nvSpPr>
        <p:spPr>
          <a:xfrm>
            <a:off x="6547104" y="2628900"/>
            <a:ext cx="82296" cy="82296"/>
          </a:xfrm>
          <a:prstGeom prst="rect">
            <a:avLst/>
          </a:prstGeom>
          <a:solidFill>
            <a:srgbClr val="F4A261"/>
          </a:solidFill>
          <a:ln w="12700">
            <a:solidFill>
              <a:srgbClr val="F4A261"/>
            </a:solidFill>
            <a:prstDash val="solid"/>
          </a:ln>
        </p:spPr>
        <p:txBody>
          <a:bodyPr/>
          <a:lstStyle/>
          <a:p>
            <a:endParaRPr lang="en-US"/>
          </a:p>
        </p:txBody>
      </p:sp>
      <p:sp>
        <p:nvSpPr>
          <p:cNvPr id="46" name="Text 44"/>
          <p:cNvSpPr/>
          <p:nvPr/>
        </p:nvSpPr>
        <p:spPr>
          <a:xfrm>
            <a:off x="6766560" y="2496312"/>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Jupyter Notebooks</a:t>
            </a:r>
            <a:endParaRPr lang="en-US" sz="1150" dirty="0"/>
          </a:p>
        </p:txBody>
      </p:sp>
      <p:sp>
        <p:nvSpPr>
          <p:cNvPr id="47" name="Shape 45"/>
          <p:cNvSpPr/>
          <p:nvPr/>
        </p:nvSpPr>
        <p:spPr>
          <a:xfrm>
            <a:off x="6547104" y="2939796"/>
            <a:ext cx="82296" cy="82296"/>
          </a:xfrm>
          <a:prstGeom prst="rect">
            <a:avLst/>
          </a:prstGeom>
          <a:solidFill>
            <a:srgbClr val="F4A261"/>
          </a:solidFill>
          <a:ln w="12700">
            <a:solidFill>
              <a:srgbClr val="F4A261"/>
            </a:solidFill>
            <a:prstDash val="solid"/>
          </a:ln>
        </p:spPr>
        <p:txBody>
          <a:bodyPr/>
          <a:lstStyle/>
          <a:p>
            <a:endParaRPr lang="en-US"/>
          </a:p>
        </p:txBody>
      </p:sp>
      <p:sp>
        <p:nvSpPr>
          <p:cNvPr id="48" name="Text 46"/>
          <p:cNvSpPr/>
          <p:nvPr/>
        </p:nvSpPr>
        <p:spPr>
          <a:xfrm>
            <a:off x="6766560" y="2807208"/>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LaTeX</a:t>
            </a:r>
            <a:endParaRPr lang="en-US" sz="1150" dirty="0"/>
          </a:p>
        </p:txBody>
      </p:sp>
      <p:sp>
        <p:nvSpPr>
          <p:cNvPr id="49" name="Shape 47"/>
          <p:cNvSpPr/>
          <p:nvPr/>
        </p:nvSpPr>
        <p:spPr>
          <a:xfrm>
            <a:off x="6547104" y="3250692"/>
            <a:ext cx="82296" cy="82296"/>
          </a:xfrm>
          <a:prstGeom prst="rect">
            <a:avLst/>
          </a:prstGeom>
          <a:solidFill>
            <a:srgbClr val="F4A261"/>
          </a:solidFill>
          <a:ln w="12700">
            <a:solidFill>
              <a:srgbClr val="F4A261"/>
            </a:solidFill>
            <a:prstDash val="solid"/>
          </a:ln>
        </p:spPr>
        <p:txBody>
          <a:bodyPr/>
          <a:lstStyle/>
          <a:p>
            <a:endParaRPr lang="en-US"/>
          </a:p>
        </p:txBody>
      </p:sp>
      <p:sp>
        <p:nvSpPr>
          <p:cNvPr id="50" name="Text 48"/>
          <p:cNvSpPr/>
          <p:nvPr/>
        </p:nvSpPr>
        <p:spPr>
          <a:xfrm>
            <a:off x="6766560" y="3118104"/>
            <a:ext cx="2057400" cy="310896"/>
          </a:xfrm>
          <a:prstGeom prst="rect">
            <a:avLst/>
          </a:prstGeom>
          <a:noFill/>
          <a:ln/>
        </p:spPr>
        <p:txBody>
          <a:bodyPr wrap="square" lIns="0" tIns="0" rIns="0" bIns="0" rtlCol="0" anchor="ctr"/>
          <a:lstStyle/>
          <a:p>
            <a:pPr marL="0" indent="0">
              <a:buNone/>
            </a:pPr>
            <a:r>
              <a:rPr lang="en-US" sz="1150" dirty="0">
                <a:solidFill>
                  <a:srgbClr val="1A1B2E"/>
                </a:solidFill>
                <a:latin typeface="Calibri" pitchFamily="34" charset="0"/>
                <a:ea typeface="Calibri" pitchFamily="34" charset="-122"/>
                <a:cs typeface="Calibri" pitchFamily="34" charset="-120"/>
              </a:rPr>
              <a:t>JSON / CSV outputs</a:t>
            </a:r>
            <a:endParaRPr lang="en-US" sz="1150" dirty="0"/>
          </a:p>
        </p:txBody>
      </p:sp>
      <p:sp>
        <p:nvSpPr>
          <p:cNvPr id="53" name="Text 51"/>
          <p:cNvSpPr/>
          <p:nvPr/>
        </p:nvSpPr>
        <p:spPr>
          <a:xfrm>
            <a:off x="8412480" y="4754880"/>
            <a:ext cx="5029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9"/>
          <p:cNvSpPr/>
          <p:nvPr/>
        </p:nvSpPr>
        <p:spPr>
          <a:xfrm>
            <a:off x="0" y="0"/>
            <a:ext cx="9144000" cy="868800"/>
          </a:xfrm>
          <a:prstGeom prst="rect">
            <a:avLst/>
          </a:prstGeom>
          <a:solidFill>
            <a:srgbClr val="1E2761"/>
          </a:solidFill>
          <a:ln w="12700" cap="flat" cmpd="sng">
            <a:solidFill>
              <a:srgbClr val="1E276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 name="Google Shape;202;p19"/>
          <p:cNvSpPr/>
          <p:nvPr/>
        </p:nvSpPr>
        <p:spPr>
          <a:xfrm>
            <a:off x="0" y="868680"/>
            <a:ext cx="9144000" cy="54900"/>
          </a:xfrm>
          <a:prstGeom prst="rect">
            <a:avLst/>
          </a:prstGeom>
          <a:solidFill>
            <a:srgbClr val="F4A261"/>
          </a:solidFill>
          <a:ln w="12700" cap="flat" cmpd="sng">
            <a:solidFill>
              <a:srgbClr val="F4A26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 name="Google Shape;203;p19"/>
          <p:cNvSpPr/>
          <p:nvPr/>
        </p:nvSpPr>
        <p:spPr>
          <a:xfrm>
            <a:off x="457200" y="118872"/>
            <a:ext cx="77724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F4A261"/>
                </a:solidFill>
                <a:latin typeface="Calibri"/>
                <a:ea typeface="Calibri"/>
                <a:cs typeface="Calibri"/>
                <a:sym typeface="Calibri"/>
              </a:rPr>
              <a:t>MODEL</a:t>
            </a:r>
            <a:endParaRPr sz="900" b="0" i="0" u="none" strike="noStrike" cap="none">
              <a:solidFill>
                <a:srgbClr val="000000"/>
              </a:solidFill>
              <a:latin typeface="Arial"/>
              <a:ea typeface="Arial"/>
              <a:cs typeface="Arial"/>
              <a:sym typeface="Arial"/>
            </a:endParaRPr>
          </a:p>
        </p:txBody>
      </p:sp>
      <p:grpSp>
        <p:nvGrpSpPr>
          <p:cNvPr id="204" name="Google Shape;204;p19"/>
          <p:cNvGrpSpPr/>
          <p:nvPr/>
        </p:nvGrpSpPr>
        <p:grpSpPr>
          <a:xfrm>
            <a:off x="457200" y="1095375"/>
            <a:ext cx="8229525" cy="238200"/>
            <a:chOff x="457200" y="1095375"/>
            <a:chExt cx="8229525" cy="238200"/>
          </a:xfrm>
        </p:grpSpPr>
        <p:sp>
          <p:nvSpPr>
            <p:cNvPr id="205" name="Google Shape;205;p19"/>
            <p:cNvSpPr txBox="1"/>
            <p:nvPr/>
          </p:nvSpPr>
          <p:spPr>
            <a:xfrm>
              <a:off x="457200" y="1095375"/>
              <a:ext cx="39528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dirty="0">
                  <a:solidFill>
                    <a:srgbClr val="1E2761"/>
                  </a:solidFill>
                  <a:latin typeface="Calibri"/>
                  <a:ea typeface="Calibri"/>
                  <a:cs typeface="Calibri"/>
                  <a:sym typeface="Calibri"/>
                </a:rPr>
                <a:t>DATA + TRAINING PIPELINE</a:t>
              </a:r>
              <a:endParaRPr sz="1000" b="1" dirty="0">
                <a:solidFill>
                  <a:srgbClr val="1E2761"/>
                </a:solidFill>
                <a:latin typeface="Calibri"/>
                <a:ea typeface="Calibri"/>
                <a:cs typeface="Calibri"/>
                <a:sym typeface="Calibri"/>
              </a:endParaRPr>
            </a:p>
          </p:txBody>
        </p:sp>
        <p:sp>
          <p:nvSpPr>
            <p:cNvPr id="206" name="Google Shape;206;p19"/>
            <p:cNvSpPr txBox="1"/>
            <p:nvPr/>
          </p:nvSpPr>
          <p:spPr>
            <a:xfrm>
              <a:off x="4733925" y="1095375"/>
              <a:ext cx="39528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rgbClr val="1E2761"/>
                  </a:solidFill>
                  <a:latin typeface="Calibri"/>
                  <a:ea typeface="Calibri"/>
                  <a:cs typeface="Calibri"/>
                  <a:sym typeface="Calibri"/>
                </a:rPr>
                <a:t>INFERENCE + OUTPUT PIPELINE</a:t>
              </a:r>
              <a:endParaRPr sz="1000" b="1">
                <a:solidFill>
                  <a:srgbClr val="1E2761"/>
                </a:solidFill>
                <a:latin typeface="Calibri"/>
                <a:ea typeface="Calibri"/>
                <a:cs typeface="Calibri"/>
                <a:sym typeface="Calibri"/>
              </a:endParaRPr>
            </a:p>
          </p:txBody>
        </p:sp>
      </p:grpSp>
      <p:sp>
        <p:nvSpPr>
          <p:cNvPr id="207" name="Google Shape;207;p19"/>
          <p:cNvSpPr/>
          <p:nvPr/>
        </p:nvSpPr>
        <p:spPr>
          <a:xfrm>
            <a:off x="457200" y="329184"/>
            <a:ext cx="77724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a:solidFill>
                  <a:srgbClr val="FFFFFF"/>
                </a:solidFill>
                <a:latin typeface="Georgia"/>
                <a:ea typeface="Georgia"/>
                <a:cs typeface="Georgia"/>
                <a:sym typeface="Georgia"/>
              </a:rPr>
              <a:t>End-to-End Diffusion Anomaly Detection Pipeline </a:t>
            </a:r>
            <a:endParaRPr sz="2200" b="0" i="0" u="none" strike="noStrike" cap="none">
              <a:solidFill>
                <a:srgbClr val="000000"/>
              </a:solidFill>
              <a:latin typeface="Arial"/>
              <a:ea typeface="Arial"/>
              <a:cs typeface="Arial"/>
              <a:sym typeface="Arial"/>
            </a:endParaRPr>
          </a:p>
        </p:txBody>
      </p:sp>
      <p:grpSp>
        <p:nvGrpSpPr>
          <p:cNvPr id="208" name="Google Shape;208;p19"/>
          <p:cNvGrpSpPr/>
          <p:nvPr/>
        </p:nvGrpSpPr>
        <p:grpSpPr>
          <a:xfrm>
            <a:off x="2381250" y="1614488"/>
            <a:ext cx="4381425" cy="2586000"/>
            <a:chOff x="2381250" y="1614488"/>
            <a:chExt cx="4381425" cy="2586000"/>
          </a:xfrm>
        </p:grpSpPr>
        <p:pic>
          <p:nvPicPr>
            <p:cNvPr id="209" name="Google Shape;209;p19"/>
            <p:cNvPicPr preferRelativeResize="0"/>
            <p:nvPr/>
          </p:nvPicPr>
          <p:blipFill rotWithShape="1">
            <a:blip r:embed="rId3">
              <a:alphaModFix/>
            </a:blip>
            <a:srcRect/>
            <a:stretch/>
          </p:blipFill>
          <p:spPr>
            <a:xfrm>
              <a:off x="2381250" y="2095500"/>
              <a:ext cx="104700" cy="142800"/>
            </a:xfrm>
            <a:prstGeom prst="rect">
              <a:avLst/>
            </a:prstGeom>
            <a:noFill/>
            <a:ln>
              <a:noFill/>
            </a:ln>
          </p:spPr>
        </p:pic>
        <p:pic>
          <p:nvPicPr>
            <p:cNvPr id="210" name="Google Shape;210;p19"/>
            <p:cNvPicPr preferRelativeResize="0"/>
            <p:nvPr/>
          </p:nvPicPr>
          <p:blipFill rotWithShape="1">
            <a:blip r:embed="rId3">
              <a:alphaModFix/>
            </a:blip>
            <a:srcRect/>
            <a:stretch/>
          </p:blipFill>
          <p:spPr>
            <a:xfrm>
              <a:off x="2381250" y="2905125"/>
              <a:ext cx="104700" cy="142800"/>
            </a:xfrm>
            <a:prstGeom prst="rect">
              <a:avLst/>
            </a:prstGeom>
            <a:noFill/>
            <a:ln>
              <a:noFill/>
            </a:ln>
          </p:spPr>
        </p:pic>
        <p:pic>
          <p:nvPicPr>
            <p:cNvPr id="211" name="Google Shape;211;p19"/>
            <p:cNvPicPr preferRelativeResize="0"/>
            <p:nvPr/>
          </p:nvPicPr>
          <p:blipFill rotWithShape="1">
            <a:blip r:embed="rId3">
              <a:alphaModFix/>
            </a:blip>
            <a:srcRect/>
            <a:stretch/>
          </p:blipFill>
          <p:spPr>
            <a:xfrm>
              <a:off x="2381250" y="3714750"/>
              <a:ext cx="104700" cy="142800"/>
            </a:xfrm>
            <a:prstGeom prst="rect">
              <a:avLst/>
            </a:prstGeom>
            <a:noFill/>
            <a:ln>
              <a:noFill/>
            </a:ln>
          </p:spPr>
        </p:pic>
        <p:pic>
          <p:nvPicPr>
            <p:cNvPr id="212" name="Google Shape;212;p19"/>
            <p:cNvPicPr preferRelativeResize="0"/>
            <p:nvPr/>
          </p:nvPicPr>
          <p:blipFill rotWithShape="1">
            <a:blip r:embed="rId4">
              <a:alphaModFix/>
            </a:blip>
            <a:srcRect/>
            <a:stretch/>
          </p:blipFill>
          <p:spPr>
            <a:xfrm>
              <a:off x="4410075" y="1614488"/>
              <a:ext cx="324000" cy="2586000"/>
            </a:xfrm>
            <a:prstGeom prst="rect">
              <a:avLst/>
            </a:prstGeom>
            <a:noFill/>
            <a:ln>
              <a:noFill/>
            </a:ln>
          </p:spPr>
        </p:pic>
        <p:pic>
          <p:nvPicPr>
            <p:cNvPr id="213" name="Google Shape;213;p19"/>
            <p:cNvPicPr preferRelativeResize="0"/>
            <p:nvPr/>
          </p:nvPicPr>
          <p:blipFill rotWithShape="1">
            <a:blip r:embed="rId3">
              <a:alphaModFix/>
            </a:blip>
            <a:srcRect/>
            <a:stretch/>
          </p:blipFill>
          <p:spPr>
            <a:xfrm>
              <a:off x="6657975" y="2095500"/>
              <a:ext cx="104700" cy="142800"/>
            </a:xfrm>
            <a:prstGeom prst="rect">
              <a:avLst/>
            </a:prstGeom>
            <a:noFill/>
            <a:ln>
              <a:noFill/>
            </a:ln>
          </p:spPr>
        </p:pic>
        <p:pic>
          <p:nvPicPr>
            <p:cNvPr id="214" name="Google Shape;214;p19"/>
            <p:cNvPicPr preferRelativeResize="0"/>
            <p:nvPr/>
          </p:nvPicPr>
          <p:blipFill rotWithShape="1">
            <a:blip r:embed="rId3">
              <a:alphaModFix/>
            </a:blip>
            <a:srcRect/>
            <a:stretch/>
          </p:blipFill>
          <p:spPr>
            <a:xfrm>
              <a:off x="6657975" y="2905125"/>
              <a:ext cx="104700" cy="142800"/>
            </a:xfrm>
            <a:prstGeom prst="rect">
              <a:avLst/>
            </a:prstGeom>
            <a:noFill/>
            <a:ln>
              <a:noFill/>
            </a:ln>
          </p:spPr>
        </p:pic>
        <p:pic>
          <p:nvPicPr>
            <p:cNvPr id="215" name="Google Shape;215;p19"/>
            <p:cNvPicPr preferRelativeResize="0"/>
            <p:nvPr/>
          </p:nvPicPr>
          <p:blipFill rotWithShape="1">
            <a:blip r:embed="rId3">
              <a:alphaModFix/>
            </a:blip>
            <a:srcRect/>
            <a:stretch/>
          </p:blipFill>
          <p:spPr>
            <a:xfrm>
              <a:off x="6657975" y="3714750"/>
              <a:ext cx="104700" cy="142800"/>
            </a:xfrm>
            <a:prstGeom prst="rect">
              <a:avLst/>
            </a:prstGeom>
            <a:noFill/>
            <a:ln>
              <a:noFill/>
            </a:ln>
          </p:spPr>
        </p:pic>
      </p:grpSp>
      <p:grpSp>
        <p:nvGrpSpPr>
          <p:cNvPr id="216" name="Google Shape;216;p19"/>
          <p:cNvGrpSpPr/>
          <p:nvPr/>
        </p:nvGrpSpPr>
        <p:grpSpPr>
          <a:xfrm>
            <a:off x="457200" y="1333500"/>
            <a:ext cx="3952800" cy="809700"/>
            <a:chOff x="457200" y="1333500"/>
            <a:chExt cx="3952800" cy="809700"/>
          </a:xfrm>
        </p:grpSpPr>
        <p:sp>
          <p:nvSpPr>
            <p:cNvPr id="217" name="Google Shape;217;p19"/>
            <p:cNvSpPr/>
            <p:nvPr/>
          </p:nvSpPr>
          <p:spPr>
            <a:xfrm>
              <a:off x="457200" y="1333500"/>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8" name="Google Shape;218;p19"/>
            <p:cNvSpPr/>
            <p:nvPr/>
          </p:nvSpPr>
          <p:spPr>
            <a:xfrm>
              <a:off x="533400" y="1438275"/>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19"/>
            <p:cNvSpPr txBox="1"/>
            <p:nvPr/>
          </p:nvSpPr>
          <p:spPr>
            <a:xfrm>
              <a:off x="533400" y="1438275"/>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FFFFFF"/>
                  </a:solidFill>
                  <a:latin typeface="Georgia"/>
                  <a:ea typeface="Georgia"/>
                  <a:cs typeface="Georgia"/>
                  <a:sym typeface="Georgia"/>
                </a:rPr>
                <a:t>01</a:t>
              </a:r>
              <a:endParaRPr sz="1000" b="1">
                <a:solidFill>
                  <a:srgbClr val="FFFFFF"/>
                </a:solidFill>
                <a:latin typeface="Georgia"/>
                <a:ea typeface="Georgia"/>
                <a:cs typeface="Georgia"/>
                <a:sym typeface="Georgia"/>
              </a:endParaRPr>
            </a:p>
          </p:txBody>
        </p:sp>
        <p:sp>
          <p:nvSpPr>
            <p:cNvPr id="220" name="Google Shape;220;p19"/>
            <p:cNvSpPr txBox="1"/>
            <p:nvPr/>
          </p:nvSpPr>
          <p:spPr>
            <a:xfrm>
              <a:off x="904875" y="1428750"/>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1E2761"/>
                  </a:solidFill>
                  <a:latin typeface="Georgia"/>
                  <a:ea typeface="Georgia"/>
                  <a:cs typeface="Georgia"/>
                  <a:sym typeface="Georgia"/>
                </a:rPr>
                <a:t>Input Images</a:t>
              </a:r>
              <a:endParaRPr sz="1200" b="1">
                <a:solidFill>
                  <a:srgbClr val="1E2761"/>
                </a:solidFill>
                <a:latin typeface="Georgia"/>
                <a:ea typeface="Georgia"/>
                <a:cs typeface="Georgia"/>
                <a:sym typeface="Georgia"/>
              </a:endParaRPr>
            </a:p>
          </p:txBody>
        </p:sp>
        <p:sp>
          <p:nvSpPr>
            <p:cNvPr id="222" name="Google Shape;222;p19"/>
            <p:cNvSpPr txBox="1"/>
            <p:nvPr/>
          </p:nvSpPr>
          <p:spPr>
            <a:xfrm>
              <a:off x="904875" y="1666875"/>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dirty="0" err="1">
                  <a:solidFill>
                    <a:srgbClr val="1A1B2E"/>
                  </a:solidFill>
                  <a:latin typeface="Calibri"/>
                  <a:ea typeface="Calibri"/>
                  <a:cs typeface="Calibri"/>
                  <a:sym typeface="Calibri"/>
                </a:rPr>
                <a:t>MVTec</a:t>
              </a:r>
              <a:r>
                <a:rPr lang="en-US" sz="1000" dirty="0">
                  <a:solidFill>
                    <a:srgbClr val="1A1B2E"/>
                  </a:solidFill>
                  <a:latin typeface="Calibri"/>
                  <a:ea typeface="Calibri"/>
                  <a:cs typeface="Calibri"/>
                  <a:sym typeface="Calibri"/>
                </a:rPr>
                <a:t> product images normal training + test inputs.</a:t>
              </a:r>
              <a:endParaRPr sz="1000" dirty="0">
                <a:solidFill>
                  <a:srgbClr val="1A1B2E"/>
                </a:solidFill>
                <a:latin typeface="Calibri"/>
                <a:ea typeface="Calibri"/>
                <a:cs typeface="Calibri"/>
                <a:sym typeface="Calibri"/>
              </a:endParaRPr>
            </a:p>
          </p:txBody>
        </p:sp>
      </p:grpSp>
      <p:grpSp>
        <p:nvGrpSpPr>
          <p:cNvPr id="223" name="Google Shape;223;p19"/>
          <p:cNvGrpSpPr/>
          <p:nvPr/>
        </p:nvGrpSpPr>
        <p:grpSpPr>
          <a:xfrm>
            <a:off x="457200" y="2143125"/>
            <a:ext cx="3952800" cy="809700"/>
            <a:chOff x="457200" y="2143125"/>
            <a:chExt cx="3952800" cy="809700"/>
          </a:xfrm>
        </p:grpSpPr>
        <p:sp>
          <p:nvSpPr>
            <p:cNvPr id="224" name="Google Shape;224;p19"/>
            <p:cNvSpPr/>
            <p:nvPr/>
          </p:nvSpPr>
          <p:spPr>
            <a:xfrm>
              <a:off x="457200" y="2143125"/>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19"/>
            <p:cNvSpPr/>
            <p:nvPr/>
          </p:nvSpPr>
          <p:spPr>
            <a:xfrm>
              <a:off x="533400" y="2247900"/>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6" name="Google Shape;226;p19"/>
            <p:cNvSpPr txBox="1"/>
            <p:nvPr/>
          </p:nvSpPr>
          <p:spPr>
            <a:xfrm>
              <a:off x="533400" y="224790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FFFFFF"/>
                  </a:solidFill>
                  <a:latin typeface="Georgia"/>
                  <a:ea typeface="Georgia"/>
                  <a:cs typeface="Georgia"/>
                  <a:sym typeface="Georgia"/>
                </a:rPr>
                <a:t>02</a:t>
              </a:r>
              <a:endParaRPr sz="1000" b="1">
                <a:solidFill>
                  <a:srgbClr val="FFFFFF"/>
                </a:solidFill>
                <a:latin typeface="Georgia"/>
                <a:ea typeface="Georgia"/>
                <a:cs typeface="Georgia"/>
                <a:sym typeface="Georgia"/>
              </a:endParaRPr>
            </a:p>
          </p:txBody>
        </p:sp>
        <p:sp>
          <p:nvSpPr>
            <p:cNvPr id="227" name="Google Shape;227;p19"/>
            <p:cNvSpPr txBox="1"/>
            <p:nvPr/>
          </p:nvSpPr>
          <p:spPr>
            <a:xfrm>
              <a:off x="904875" y="2238375"/>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1E2761"/>
                  </a:solidFill>
                  <a:latin typeface="Georgia"/>
                  <a:ea typeface="Georgia"/>
                  <a:cs typeface="Georgia"/>
                  <a:sym typeface="Georgia"/>
                </a:rPr>
                <a:t>Data Loading</a:t>
              </a:r>
              <a:endParaRPr sz="1200" b="1">
                <a:solidFill>
                  <a:srgbClr val="1E2761"/>
                </a:solidFill>
                <a:latin typeface="Georgia"/>
                <a:ea typeface="Georgia"/>
                <a:cs typeface="Georgia"/>
                <a:sym typeface="Georgia"/>
              </a:endParaRPr>
            </a:p>
          </p:txBody>
        </p:sp>
        <p:sp>
          <p:nvSpPr>
            <p:cNvPr id="228" name="Google Shape;228;p19"/>
            <p:cNvSpPr txBox="1"/>
            <p:nvPr/>
          </p:nvSpPr>
          <p:spPr>
            <a:xfrm>
              <a:off x="3714750" y="2264664"/>
              <a:ext cx="2382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1530" dirty="0">
                <a:solidFill>
                  <a:srgbClr val="F4A261"/>
                </a:solidFill>
                <a:latin typeface="Material Icons"/>
                <a:ea typeface="Material Icons"/>
                <a:cs typeface="Material Icons"/>
                <a:sym typeface="Material Icons"/>
              </a:endParaRPr>
            </a:p>
          </p:txBody>
        </p:sp>
        <p:sp>
          <p:nvSpPr>
            <p:cNvPr id="229" name="Google Shape;229;p19"/>
            <p:cNvSpPr txBox="1"/>
            <p:nvPr/>
          </p:nvSpPr>
          <p:spPr>
            <a:xfrm>
              <a:off x="904875" y="2476500"/>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dirty="0">
                  <a:solidFill>
                    <a:srgbClr val="1A1B2E"/>
                  </a:solidFill>
                  <a:latin typeface="Calibri"/>
                  <a:cs typeface="Calibri"/>
                </a:rPr>
                <a:t>Load category-wise images and ground-truth masks for evaluation</a:t>
              </a:r>
              <a:r>
                <a:rPr lang="en-US" sz="1100" dirty="0"/>
                <a:t>.</a:t>
              </a:r>
              <a:endParaRPr sz="1000" dirty="0">
                <a:solidFill>
                  <a:srgbClr val="1A1B2E"/>
                </a:solidFill>
                <a:latin typeface="Calibri"/>
                <a:ea typeface="Calibri"/>
                <a:cs typeface="Calibri"/>
                <a:sym typeface="Calibri"/>
              </a:endParaRPr>
            </a:p>
          </p:txBody>
        </p:sp>
      </p:grpSp>
      <p:grpSp>
        <p:nvGrpSpPr>
          <p:cNvPr id="230" name="Google Shape;230;p19"/>
          <p:cNvGrpSpPr/>
          <p:nvPr/>
        </p:nvGrpSpPr>
        <p:grpSpPr>
          <a:xfrm>
            <a:off x="457200" y="2952750"/>
            <a:ext cx="3952800" cy="809700"/>
            <a:chOff x="457200" y="2952750"/>
            <a:chExt cx="3952800" cy="809700"/>
          </a:xfrm>
        </p:grpSpPr>
        <p:sp>
          <p:nvSpPr>
            <p:cNvPr id="231" name="Google Shape;231;p19"/>
            <p:cNvSpPr/>
            <p:nvPr/>
          </p:nvSpPr>
          <p:spPr>
            <a:xfrm>
              <a:off x="457200" y="2952750"/>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2" name="Google Shape;232;p19"/>
            <p:cNvSpPr/>
            <p:nvPr/>
          </p:nvSpPr>
          <p:spPr>
            <a:xfrm>
              <a:off x="533400" y="3057525"/>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p19"/>
            <p:cNvSpPr txBox="1"/>
            <p:nvPr/>
          </p:nvSpPr>
          <p:spPr>
            <a:xfrm>
              <a:off x="533400" y="3057525"/>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FFFFFF"/>
                  </a:solidFill>
                  <a:latin typeface="Georgia"/>
                  <a:ea typeface="Georgia"/>
                  <a:cs typeface="Georgia"/>
                  <a:sym typeface="Georgia"/>
                </a:rPr>
                <a:t>03</a:t>
              </a:r>
              <a:endParaRPr sz="1000" b="1">
                <a:solidFill>
                  <a:srgbClr val="FFFFFF"/>
                </a:solidFill>
                <a:latin typeface="Georgia"/>
                <a:ea typeface="Georgia"/>
                <a:cs typeface="Georgia"/>
                <a:sym typeface="Georgia"/>
              </a:endParaRPr>
            </a:p>
          </p:txBody>
        </p:sp>
        <p:sp>
          <p:nvSpPr>
            <p:cNvPr id="234" name="Google Shape;234;p19"/>
            <p:cNvSpPr txBox="1"/>
            <p:nvPr/>
          </p:nvSpPr>
          <p:spPr>
            <a:xfrm>
              <a:off x="904875" y="3048000"/>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1E2761"/>
                  </a:solidFill>
                  <a:latin typeface="Georgia"/>
                  <a:ea typeface="Georgia"/>
                  <a:cs typeface="Georgia"/>
                  <a:sym typeface="Georgia"/>
                </a:rPr>
                <a:t>Preprocessing</a:t>
              </a:r>
              <a:endParaRPr sz="1200" b="1">
                <a:solidFill>
                  <a:srgbClr val="1E2761"/>
                </a:solidFill>
                <a:latin typeface="Georgia"/>
                <a:ea typeface="Georgia"/>
                <a:cs typeface="Georgia"/>
                <a:sym typeface="Georgia"/>
              </a:endParaRPr>
            </a:p>
          </p:txBody>
        </p:sp>
        <p:sp>
          <p:nvSpPr>
            <p:cNvPr id="235" name="Google Shape;235;p19"/>
            <p:cNvSpPr txBox="1"/>
            <p:nvPr/>
          </p:nvSpPr>
          <p:spPr>
            <a:xfrm>
              <a:off x="3714750" y="3074289"/>
              <a:ext cx="2382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1530" dirty="0">
                <a:solidFill>
                  <a:srgbClr val="F4A261"/>
                </a:solidFill>
                <a:latin typeface="Material Icons"/>
                <a:ea typeface="Material Icons"/>
                <a:cs typeface="Material Icons"/>
                <a:sym typeface="Material Icons"/>
              </a:endParaRPr>
            </a:p>
          </p:txBody>
        </p:sp>
        <p:sp>
          <p:nvSpPr>
            <p:cNvPr id="236" name="Google Shape;236;p19"/>
            <p:cNvSpPr txBox="1"/>
            <p:nvPr/>
          </p:nvSpPr>
          <p:spPr>
            <a:xfrm>
              <a:off x="904875" y="3286125"/>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dirty="0">
                  <a:solidFill>
                    <a:srgbClr val="1A1B2E"/>
                  </a:solidFill>
                  <a:latin typeface="Calibri"/>
                  <a:ea typeface="Calibri"/>
                  <a:cs typeface="Calibri"/>
                  <a:sym typeface="Calibri"/>
                </a:rPr>
                <a:t>Resize, RGB conversion, normalization, augmentation.</a:t>
              </a:r>
              <a:endParaRPr sz="1000" dirty="0">
                <a:solidFill>
                  <a:srgbClr val="1A1B2E"/>
                </a:solidFill>
                <a:latin typeface="Calibri"/>
                <a:ea typeface="Calibri"/>
                <a:cs typeface="Calibri"/>
                <a:sym typeface="Calibri"/>
              </a:endParaRPr>
            </a:p>
          </p:txBody>
        </p:sp>
      </p:grpSp>
      <p:grpSp>
        <p:nvGrpSpPr>
          <p:cNvPr id="237" name="Google Shape;237;p19"/>
          <p:cNvGrpSpPr/>
          <p:nvPr/>
        </p:nvGrpSpPr>
        <p:grpSpPr>
          <a:xfrm>
            <a:off x="457200" y="3762375"/>
            <a:ext cx="3952800" cy="809700"/>
            <a:chOff x="457200" y="3762375"/>
            <a:chExt cx="3952800" cy="809700"/>
          </a:xfrm>
        </p:grpSpPr>
        <p:sp>
          <p:nvSpPr>
            <p:cNvPr id="238" name="Google Shape;238;p19"/>
            <p:cNvSpPr/>
            <p:nvPr/>
          </p:nvSpPr>
          <p:spPr>
            <a:xfrm>
              <a:off x="457200" y="3762375"/>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9" name="Google Shape;239;p19"/>
            <p:cNvSpPr/>
            <p:nvPr/>
          </p:nvSpPr>
          <p:spPr>
            <a:xfrm>
              <a:off x="533400" y="3867150"/>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0" name="Google Shape;240;p19"/>
            <p:cNvSpPr txBox="1"/>
            <p:nvPr/>
          </p:nvSpPr>
          <p:spPr>
            <a:xfrm>
              <a:off x="533400" y="386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a:solidFill>
                    <a:srgbClr val="FFFFFF"/>
                  </a:solidFill>
                  <a:latin typeface="Georgia"/>
                  <a:ea typeface="Georgia"/>
                  <a:cs typeface="Georgia"/>
                  <a:sym typeface="Georgia"/>
                </a:rPr>
                <a:t>04</a:t>
              </a:r>
              <a:endParaRPr sz="1000" b="1" dirty="0">
                <a:solidFill>
                  <a:srgbClr val="FFFFFF"/>
                </a:solidFill>
                <a:latin typeface="Georgia"/>
                <a:ea typeface="Georgia"/>
                <a:cs typeface="Georgia"/>
                <a:sym typeface="Georgia"/>
              </a:endParaRPr>
            </a:p>
          </p:txBody>
        </p:sp>
        <p:sp>
          <p:nvSpPr>
            <p:cNvPr id="241" name="Google Shape;241;p19"/>
            <p:cNvSpPr txBox="1"/>
            <p:nvPr/>
          </p:nvSpPr>
          <p:spPr>
            <a:xfrm>
              <a:off x="904875" y="3857625"/>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dirty="0">
                  <a:solidFill>
                    <a:srgbClr val="1E2761"/>
                  </a:solidFill>
                  <a:latin typeface="Georgia"/>
                  <a:ea typeface="Georgia"/>
                  <a:cs typeface="Georgia"/>
                  <a:sym typeface="Georgia"/>
                </a:rPr>
                <a:t>Diffusion Training</a:t>
              </a:r>
              <a:endParaRPr sz="1200" b="1" dirty="0">
                <a:solidFill>
                  <a:srgbClr val="1E2761"/>
                </a:solidFill>
                <a:latin typeface="Georgia"/>
                <a:ea typeface="Georgia"/>
                <a:cs typeface="Georgia"/>
                <a:sym typeface="Georgia"/>
              </a:endParaRPr>
            </a:p>
          </p:txBody>
        </p:sp>
        <p:sp>
          <p:nvSpPr>
            <p:cNvPr id="242" name="Google Shape;242;p19"/>
            <p:cNvSpPr txBox="1"/>
            <p:nvPr/>
          </p:nvSpPr>
          <p:spPr>
            <a:xfrm>
              <a:off x="3714750" y="3883914"/>
              <a:ext cx="2382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1530" dirty="0">
                <a:solidFill>
                  <a:srgbClr val="F4A261"/>
                </a:solidFill>
                <a:latin typeface="Material Icons"/>
                <a:ea typeface="Material Icons"/>
                <a:cs typeface="Material Icons"/>
                <a:sym typeface="Material Icons"/>
              </a:endParaRPr>
            </a:p>
          </p:txBody>
        </p:sp>
        <p:sp>
          <p:nvSpPr>
            <p:cNvPr id="243" name="Google Shape;243;p19"/>
            <p:cNvSpPr txBox="1"/>
            <p:nvPr/>
          </p:nvSpPr>
          <p:spPr>
            <a:xfrm>
              <a:off x="904875" y="4095750"/>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dirty="0">
                  <a:solidFill>
                    <a:srgbClr val="1A1B2E"/>
                  </a:solidFill>
                  <a:latin typeface="Calibri"/>
                  <a:ea typeface="Calibri"/>
                  <a:cs typeface="Calibri"/>
                  <a:sym typeface="Calibri"/>
                </a:rPr>
                <a:t>Train </a:t>
              </a:r>
              <a:r>
                <a:rPr lang="en-US" sz="1000" dirty="0" err="1">
                  <a:solidFill>
                    <a:srgbClr val="1A1B2E"/>
                  </a:solidFill>
                  <a:latin typeface="Calibri"/>
                  <a:ea typeface="Calibri"/>
                  <a:cs typeface="Calibri"/>
                  <a:sym typeface="Calibri"/>
                </a:rPr>
                <a:t>DiT</a:t>
              </a:r>
              <a:r>
                <a:rPr lang="en-US" sz="1000" dirty="0">
                  <a:solidFill>
                    <a:srgbClr val="1A1B2E"/>
                  </a:solidFill>
                  <a:latin typeface="Calibri"/>
                  <a:ea typeface="Calibri"/>
                  <a:cs typeface="Calibri"/>
                  <a:sym typeface="Calibri"/>
                </a:rPr>
                <a:t>-Tiny on normal-only images.</a:t>
              </a:r>
              <a:endParaRPr sz="1000" dirty="0">
                <a:solidFill>
                  <a:srgbClr val="1A1B2E"/>
                </a:solidFill>
                <a:latin typeface="Calibri"/>
                <a:ea typeface="Calibri"/>
                <a:cs typeface="Calibri"/>
                <a:sym typeface="Calibri"/>
              </a:endParaRPr>
            </a:p>
          </p:txBody>
        </p:sp>
      </p:grpSp>
      <p:grpSp>
        <p:nvGrpSpPr>
          <p:cNvPr id="244" name="Google Shape;244;p19"/>
          <p:cNvGrpSpPr/>
          <p:nvPr/>
        </p:nvGrpSpPr>
        <p:grpSpPr>
          <a:xfrm>
            <a:off x="4733925" y="1333500"/>
            <a:ext cx="3952800" cy="809700"/>
            <a:chOff x="4733925" y="1333500"/>
            <a:chExt cx="3952800" cy="809700"/>
          </a:xfrm>
        </p:grpSpPr>
        <p:sp>
          <p:nvSpPr>
            <p:cNvPr id="245" name="Google Shape;245;p19"/>
            <p:cNvSpPr/>
            <p:nvPr/>
          </p:nvSpPr>
          <p:spPr>
            <a:xfrm>
              <a:off x="4733925" y="1333500"/>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6" name="Google Shape;246;p19"/>
            <p:cNvSpPr/>
            <p:nvPr/>
          </p:nvSpPr>
          <p:spPr>
            <a:xfrm>
              <a:off x="4810125" y="1438275"/>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7" name="Google Shape;247;p19"/>
            <p:cNvSpPr txBox="1"/>
            <p:nvPr/>
          </p:nvSpPr>
          <p:spPr>
            <a:xfrm>
              <a:off x="4810125" y="1438275"/>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FFFFFF"/>
                  </a:solidFill>
                  <a:latin typeface="Georgia"/>
                  <a:ea typeface="Georgia"/>
                  <a:cs typeface="Georgia"/>
                  <a:sym typeface="Georgia"/>
                </a:rPr>
                <a:t>05</a:t>
              </a:r>
              <a:endParaRPr sz="1000" b="1">
                <a:solidFill>
                  <a:srgbClr val="FFFFFF"/>
                </a:solidFill>
                <a:latin typeface="Georgia"/>
                <a:ea typeface="Georgia"/>
                <a:cs typeface="Georgia"/>
                <a:sym typeface="Georgia"/>
              </a:endParaRPr>
            </a:p>
          </p:txBody>
        </p:sp>
        <p:sp>
          <p:nvSpPr>
            <p:cNvPr id="248" name="Google Shape;248;p19"/>
            <p:cNvSpPr txBox="1"/>
            <p:nvPr/>
          </p:nvSpPr>
          <p:spPr>
            <a:xfrm>
              <a:off x="5181600" y="1428750"/>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1E2761"/>
                  </a:solidFill>
                  <a:latin typeface="Georgia"/>
                  <a:ea typeface="Georgia"/>
                  <a:cs typeface="Georgia"/>
                  <a:sym typeface="Georgia"/>
                </a:rPr>
                <a:t>Reconstruction Inference</a:t>
              </a:r>
              <a:endParaRPr sz="1200" b="1">
                <a:solidFill>
                  <a:srgbClr val="1E2761"/>
                </a:solidFill>
                <a:latin typeface="Georgia"/>
                <a:ea typeface="Georgia"/>
                <a:cs typeface="Georgia"/>
                <a:sym typeface="Georgia"/>
              </a:endParaRPr>
            </a:p>
          </p:txBody>
        </p:sp>
        <p:sp>
          <p:nvSpPr>
            <p:cNvPr id="249" name="Google Shape;249;p19"/>
            <p:cNvSpPr txBox="1"/>
            <p:nvPr/>
          </p:nvSpPr>
          <p:spPr>
            <a:xfrm>
              <a:off x="7991475" y="1455039"/>
              <a:ext cx="2382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1530" dirty="0">
                <a:solidFill>
                  <a:srgbClr val="F4A261"/>
                </a:solidFill>
                <a:latin typeface="Material Icons"/>
                <a:ea typeface="Material Icons"/>
                <a:cs typeface="Material Icons"/>
                <a:sym typeface="Material Icons"/>
              </a:endParaRPr>
            </a:p>
          </p:txBody>
        </p:sp>
        <p:sp>
          <p:nvSpPr>
            <p:cNvPr id="250" name="Google Shape;250;p19"/>
            <p:cNvSpPr txBox="1"/>
            <p:nvPr/>
          </p:nvSpPr>
          <p:spPr>
            <a:xfrm>
              <a:off x="5181600" y="1666875"/>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a:solidFill>
                    <a:srgbClr val="1A1B2E"/>
                  </a:solidFill>
                  <a:latin typeface="Calibri"/>
                  <a:ea typeface="Calibri"/>
                  <a:cs typeface="Calibri"/>
                  <a:sym typeface="Calibri"/>
                </a:rPr>
                <a:t>Partially noise test image and reconstruct with DDIM.</a:t>
              </a:r>
              <a:endParaRPr sz="1000">
                <a:solidFill>
                  <a:srgbClr val="1A1B2E"/>
                </a:solidFill>
                <a:latin typeface="Calibri"/>
                <a:ea typeface="Calibri"/>
                <a:cs typeface="Calibri"/>
                <a:sym typeface="Calibri"/>
              </a:endParaRPr>
            </a:p>
          </p:txBody>
        </p:sp>
      </p:grpSp>
      <p:grpSp>
        <p:nvGrpSpPr>
          <p:cNvPr id="251" name="Google Shape;251;p19"/>
          <p:cNvGrpSpPr/>
          <p:nvPr/>
        </p:nvGrpSpPr>
        <p:grpSpPr>
          <a:xfrm>
            <a:off x="4733925" y="2143125"/>
            <a:ext cx="3952800" cy="809700"/>
            <a:chOff x="4733925" y="2143125"/>
            <a:chExt cx="3952800" cy="809700"/>
          </a:xfrm>
        </p:grpSpPr>
        <p:sp>
          <p:nvSpPr>
            <p:cNvPr id="252" name="Google Shape;252;p19"/>
            <p:cNvSpPr/>
            <p:nvPr/>
          </p:nvSpPr>
          <p:spPr>
            <a:xfrm>
              <a:off x="4733925" y="2143125"/>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3" name="Google Shape;253;p19"/>
            <p:cNvSpPr/>
            <p:nvPr/>
          </p:nvSpPr>
          <p:spPr>
            <a:xfrm>
              <a:off x="4810125" y="2247900"/>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 name="Google Shape;254;p19"/>
            <p:cNvSpPr txBox="1"/>
            <p:nvPr/>
          </p:nvSpPr>
          <p:spPr>
            <a:xfrm>
              <a:off x="4810125" y="224790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FFFFFF"/>
                  </a:solidFill>
                  <a:latin typeface="Georgia"/>
                  <a:ea typeface="Georgia"/>
                  <a:cs typeface="Georgia"/>
                  <a:sym typeface="Georgia"/>
                </a:rPr>
                <a:t>06</a:t>
              </a:r>
              <a:endParaRPr sz="1000" b="1">
                <a:solidFill>
                  <a:srgbClr val="FFFFFF"/>
                </a:solidFill>
                <a:latin typeface="Georgia"/>
                <a:ea typeface="Georgia"/>
                <a:cs typeface="Georgia"/>
                <a:sym typeface="Georgia"/>
              </a:endParaRPr>
            </a:p>
          </p:txBody>
        </p:sp>
        <p:sp>
          <p:nvSpPr>
            <p:cNvPr id="255" name="Google Shape;255;p19"/>
            <p:cNvSpPr txBox="1"/>
            <p:nvPr/>
          </p:nvSpPr>
          <p:spPr>
            <a:xfrm>
              <a:off x="5181600" y="2238375"/>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1E2761"/>
                  </a:solidFill>
                  <a:latin typeface="Georgia"/>
                  <a:ea typeface="Georgia"/>
                  <a:cs typeface="Georgia"/>
                  <a:sym typeface="Georgia"/>
                </a:rPr>
                <a:t>Anomaly Scoring</a:t>
              </a:r>
              <a:endParaRPr sz="1200" b="1">
                <a:solidFill>
                  <a:srgbClr val="1E2761"/>
                </a:solidFill>
                <a:latin typeface="Georgia"/>
                <a:ea typeface="Georgia"/>
                <a:cs typeface="Georgia"/>
                <a:sym typeface="Georgia"/>
              </a:endParaRPr>
            </a:p>
          </p:txBody>
        </p:sp>
        <p:sp>
          <p:nvSpPr>
            <p:cNvPr id="257" name="Google Shape;257;p19"/>
            <p:cNvSpPr txBox="1"/>
            <p:nvPr/>
          </p:nvSpPr>
          <p:spPr>
            <a:xfrm>
              <a:off x="5181600" y="2476500"/>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dirty="0">
                  <a:solidFill>
                    <a:srgbClr val="1A1B2E"/>
                  </a:solidFill>
                  <a:latin typeface="Calibri"/>
                  <a:cs typeface="Calibri"/>
                </a:rPr>
                <a:t>Compute anomaly map and image-level score from reconstruction error.</a:t>
              </a:r>
              <a:endParaRPr sz="1000" dirty="0">
                <a:solidFill>
                  <a:srgbClr val="1A1B2E"/>
                </a:solidFill>
                <a:latin typeface="Calibri"/>
                <a:cs typeface="Calibri"/>
                <a:sym typeface="Calibri"/>
              </a:endParaRPr>
            </a:p>
          </p:txBody>
        </p:sp>
      </p:grpSp>
      <p:grpSp>
        <p:nvGrpSpPr>
          <p:cNvPr id="258" name="Google Shape;258;p19"/>
          <p:cNvGrpSpPr/>
          <p:nvPr/>
        </p:nvGrpSpPr>
        <p:grpSpPr>
          <a:xfrm>
            <a:off x="4733925" y="2952750"/>
            <a:ext cx="3952800" cy="809700"/>
            <a:chOff x="4733925" y="2952750"/>
            <a:chExt cx="3952800" cy="809700"/>
          </a:xfrm>
        </p:grpSpPr>
        <p:sp>
          <p:nvSpPr>
            <p:cNvPr id="259" name="Google Shape;259;p19"/>
            <p:cNvSpPr/>
            <p:nvPr/>
          </p:nvSpPr>
          <p:spPr>
            <a:xfrm>
              <a:off x="4733925" y="2952750"/>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 name="Google Shape;260;p19"/>
            <p:cNvSpPr/>
            <p:nvPr/>
          </p:nvSpPr>
          <p:spPr>
            <a:xfrm>
              <a:off x="4810125" y="3057525"/>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1" name="Google Shape;261;p19"/>
            <p:cNvSpPr txBox="1"/>
            <p:nvPr/>
          </p:nvSpPr>
          <p:spPr>
            <a:xfrm>
              <a:off x="4810125" y="3057525"/>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FFFFFF"/>
                  </a:solidFill>
                  <a:latin typeface="Georgia"/>
                  <a:ea typeface="Georgia"/>
                  <a:cs typeface="Georgia"/>
                  <a:sym typeface="Georgia"/>
                </a:rPr>
                <a:t>07</a:t>
              </a:r>
              <a:endParaRPr sz="1000" b="1">
                <a:solidFill>
                  <a:srgbClr val="FFFFFF"/>
                </a:solidFill>
                <a:latin typeface="Georgia"/>
                <a:ea typeface="Georgia"/>
                <a:cs typeface="Georgia"/>
                <a:sym typeface="Georgia"/>
              </a:endParaRPr>
            </a:p>
          </p:txBody>
        </p:sp>
        <p:sp>
          <p:nvSpPr>
            <p:cNvPr id="262" name="Google Shape;262;p19"/>
            <p:cNvSpPr txBox="1"/>
            <p:nvPr/>
          </p:nvSpPr>
          <p:spPr>
            <a:xfrm>
              <a:off x="5181600" y="3048000"/>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1E2761"/>
                  </a:solidFill>
                  <a:latin typeface="Georgia"/>
                  <a:ea typeface="Georgia"/>
                  <a:cs typeface="Georgia"/>
                  <a:sym typeface="Georgia"/>
                </a:rPr>
                <a:t>Evaluation</a:t>
              </a:r>
              <a:endParaRPr sz="1200" b="1">
                <a:solidFill>
                  <a:srgbClr val="1E2761"/>
                </a:solidFill>
                <a:latin typeface="Georgia"/>
                <a:ea typeface="Georgia"/>
                <a:cs typeface="Georgia"/>
                <a:sym typeface="Georgia"/>
              </a:endParaRPr>
            </a:p>
          </p:txBody>
        </p:sp>
        <p:sp>
          <p:nvSpPr>
            <p:cNvPr id="264" name="Google Shape;264;p19"/>
            <p:cNvSpPr txBox="1"/>
            <p:nvPr/>
          </p:nvSpPr>
          <p:spPr>
            <a:xfrm>
              <a:off x="5181600" y="3286125"/>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dirty="0">
                  <a:solidFill>
                    <a:srgbClr val="1A1B2E"/>
                  </a:solidFill>
                  <a:latin typeface="Calibri"/>
                  <a:ea typeface="Calibri"/>
                  <a:cs typeface="Calibri"/>
                  <a:sym typeface="Calibri"/>
                </a:rPr>
                <a:t>Measure image-level and pixel-level AUROC.</a:t>
              </a:r>
              <a:endParaRPr sz="1000" dirty="0">
                <a:solidFill>
                  <a:srgbClr val="1A1B2E"/>
                </a:solidFill>
                <a:latin typeface="Calibri"/>
                <a:ea typeface="Calibri"/>
                <a:cs typeface="Calibri"/>
                <a:sym typeface="Calibri"/>
              </a:endParaRPr>
            </a:p>
          </p:txBody>
        </p:sp>
      </p:grpSp>
      <p:grpSp>
        <p:nvGrpSpPr>
          <p:cNvPr id="265" name="Google Shape;265;p19"/>
          <p:cNvGrpSpPr/>
          <p:nvPr/>
        </p:nvGrpSpPr>
        <p:grpSpPr>
          <a:xfrm>
            <a:off x="4733925" y="3762375"/>
            <a:ext cx="3952800" cy="809700"/>
            <a:chOff x="4733925" y="3762375"/>
            <a:chExt cx="3952800" cy="809700"/>
          </a:xfrm>
        </p:grpSpPr>
        <p:sp>
          <p:nvSpPr>
            <p:cNvPr id="266" name="Google Shape;266;p19"/>
            <p:cNvSpPr/>
            <p:nvPr/>
          </p:nvSpPr>
          <p:spPr>
            <a:xfrm>
              <a:off x="4733925" y="3762375"/>
              <a:ext cx="3952800" cy="809700"/>
            </a:xfrm>
            <a:prstGeom prst="roundRect">
              <a:avLst>
                <a:gd name="adj" fmla="val 9411"/>
              </a:avLst>
            </a:prstGeom>
            <a:solidFill>
              <a:srgbClr val="FFFFFF"/>
            </a:solidFill>
            <a:ln w="9525" cap="flat" cmpd="sng">
              <a:solidFill>
                <a:srgbClr val="D7DAE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7" name="Google Shape;267;p19"/>
            <p:cNvSpPr/>
            <p:nvPr/>
          </p:nvSpPr>
          <p:spPr>
            <a:xfrm>
              <a:off x="4810125" y="3867150"/>
              <a:ext cx="266700" cy="266700"/>
            </a:xfrm>
            <a:prstGeom prst="ellipse">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8" name="Google Shape;268;p19"/>
            <p:cNvSpPr txBox="1"/>
            <p:nvPr/>
          </p:nvSpPr>
          <p:spPr>
            <a:xfrm>
              <a:off x="4810125" y="386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FFFFFF"/>
                  </a:solidFill>
                  <a:latin typeface="Georgia"/>
                  <a:ea typeface="Georgia"/>
                  <a:cs typeface="Georgia"/>
                  <a:sym typeface="Georgia"/>
                </a:rPr>
                <a:t>08</a:t>
              </a:r>
              <a:endParaRPr sz="1000" b="1">
                <a:solidFill>
                  <a:srgbClr val="FFFFFF"/>
                </a:solidFill>
                <a:latin typeface="Georgia"/>
                <a:ea typeface="Georgia"/>
                <a:cs typeface="Georgia"/>
                <a:sym typeface="Georgia"/>
              </a:endParaRPr>
            </a:p>
          </p:txBody>
        </p:sp>
        <p:sp>
          <p:nvSpPr>
            <p:cNvPr id="269" name="Google Shape;269;p19"/>
            <p:cNvSpPr txBox="1"/>
            <p:nvPr/>
          </p:nvSpPr>
          <p:spPr>
            <a:xfrm>
              <a:off x="5181600" y="3857625"/>
              <a:ext cx="2667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dirty="0">
                  <a:solidFill>
                    <a:srgbClr val="1E2761"/>
                  </a:solidFill>
                  <a:latin typeface="Georgia"/>
                  <a:ea typeface="Georgia"/>
                  <a:cs typeface="Georgia"/>
                  <a:sym typeface="Georgia"/>
                </a:rPr>
                <a:t>Output</a:t>
              </a:r>
              <a:endParaRPr sz="1200" b="1" dirty="0">
                <a:solidFill>
                  <a:srgbClr val="1E2761"/>
                </a:solidFill>
                <a:latin typeface="Georgia"/>
                <a:ea typeface="Georgia"/>
                <a:cs typeface="Georgia"/>
                <a:sym typeface="Georgia"/>
              </a:endParaRPr>
            </a:p>
          </p:txBody>
        </p:sp>
        <p:sp>
          <p:nvSpPr>
            <p:cNvPr id="271" name="Google Shape;271;p19"/>
            <p:cNvSpPr txBox="1"/>
            <p:nvPr/>
          </p:nvSpPr>
          <p:spPr>
            <a:xfrm>
              <a:off x="5181600" y="4095750"/>
              <a:ext cx="28575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dirty="0">
                  <a:solidFill>
                    <a:srgbClr val="1A1B2E"/>
                  </a:solidFill>
                  <a:latin typeface="Calibri"/>
                  <a:ea typeface="Calibri"/>
                  <a:cs typeface="Calibri"/>
                  <a:sym typeface="Calibri"/>
                </a:rPr>
                <a:t>Show verdict, score, heatmap, and </a:t>
              </a:r>
              <a:r>
                <a:rPr lang="en-US" sz="1000" dirty="0" err="1">
                  <a:solidFill>
                    <a:srgbClr val="1A1B2E"/>
                  </a:solidFill>
                  <a:latin typeface="Calibri"/>
                  <a:ea typeface="Calibri"/>
                  <a:cs typeface="Calibri"/>
                  <a:sym typeface="Calibri"/>
                </a:rPr>
                <a:t>Streamlit</a:t>
              </a:r>
              <a:r>
                <a:rPr lang="en-US" sz="1000" dirty="0">
                  <a:solidFill>
                    <a:srgbClr val="1A1B2E"/>
                  </a:solidFill>
                  <a:latin typeface="Calibri"/>
                  <a:ea typeface="Calibri"/>
                  <a:cs typeface="Calibri"/>
                  <a:sym typeface="Calibri"/>
                </a:rPr>
                <a:t> visualization.</a:t>
              </a:r>
              <a:endParaRPr sz="1000" dirty="0">
                <a:solidFill>
                  <a:srgbClr val="1A1B2E"/>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0"/>
          <p:cNvSpPr/>
          <p:nvPr/>
        </p:nvSpPr>
        <p:spPr>
          <a:xfrm>
            <a:off x="0" y="0"/>
            <a:ext cx="9144000" cy="868800"/>
          </a:xfrm>
          <a:prstGeom prst="rect">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latin typeface="Calibri" panose="020F0502020204030204" pitchFamily="34" charset="0"/>
              <a:cs typeface="Calibri" panose="020F0502020204030204" pitchFamily="34" charset="0"/>
            </a:endParaRPr>
          </a:p>
        </p:txBody>
      </p:sp>
      <p:sp>
        <p:nvSpPr>
          <p:cNvPr id="276" name="Google Shape;276;p20"/>
          <p:cNvSpPr/>
          <p:nvPr/>
        </p:nvSpPr>
        <p:spPr>
          <a:xfrm>
            <a:off x="0" y="868680"/>
            <a:ext cx="9144000" cy="55200"/>
          </a:xfrm>
          <a:prstGeom prst="rect">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latin typeface="Calibri" panose="020F0502020204030204" pitchFamily="34" charset="0"/>
              <a:cs typeface="Calibri" panose="020F0502020204030204" pitchFamily="34" charset="0"/>
            </a:endParaRPr>
          </a:p>
        </p:txBody>
      </p:sp>
      <p:sp>
        <p:nvSpPr>
          <p:cNvPr id="277" name="Google Shape;277;p20"/>
          <p:cNvSpPr txBox="1"/>
          <p:nvPr/>
        </p:nvSpPr>
        <p:spPr>
          <a:xfrm>
            <a:off x="457200" y="119063"/>
            <a:ext cx="7772400" cy="257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b="1" dirty="0">
                <a:solidFill>
                  <a:srgbClr val="F4A261"/>
                </a:solidFill>
                <a:latin typeface="Calibri" panose="020F0502020204030204" pitchFamily="34" charset="0"/>
                <a:ea typeface="Calibri"/>
                <a:cs typeface="Calibri" panose="020F0502020204030204" pitchFamily="34" charset="0"/>
                <a:sym typeface="Calibri"/>
              </a:rPr>
              <a:t>MODEL</a:t>
            </a:r>
            <a:endParaRPr sz="900" b="1" dirty="0">
              <a:solidFill>
                <a:srgbClr val="F4A261"/>
              </a:solidFill>
              <a:latin typeface="Calibri" panose="020F0502020204030204" pitchFamily="34" charset="0"/>
              <a:ea typeface="Calibri"/>
              <a:cs typeface="Calibri" panose="020F0502020204030204" pitchFamily="34" charset="0"/>
              <a:sym typeface="Calibri"/>
            </a:endParaRPr>
          </a:p>
        </p:txBody>
      </p:sp>
      <p:sp>
        <p:nvSpPr>
          <p:cNvPr id="278" name="Google Shape;278;p20"/>
          <p:cNvSpPr txBox="1"/>
          <p:nvPr/>
        </p:nvSpPr>
        <p:spPr>
          <a:xfrm>
            <a:off x="457200" y="329565"/>
            <a:ext cx="77724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dirty="0">
                <a:solidFill>
                  <a:srgbClr val="FFFFFF"/>
                </a:solidFill>
                <a:latin typeface="Calibri" panose="020F0502020204030204" pitchFamily="34" charset="0"/>
                <a:ea typeface="Georgia"/>
                <a:cs typeface="Calibri" panose="020F0502020204030204" pitchFamily="34" charset="0"/>
                <a:sym typeface="Georgia"/>
              </a:rPr>
              <a:t>Training vs Inference Workflow</a:t>
            </a:r>
            <a:endParaRPr sz="2200" b="1" dirty="0">
              <a:solidFill>
                <a:srgbClr val="FFFFFF"/>
              </a:solidFill>
              <a:latin typeface="Calibri" panose="020F0502020204030204" pitchFamily="34" charset="0"/>
              <a:ea typeface="Georgia"/>
              <a:cs typeface="Calibri" panose="020F0502020204030204" pitchFamily="34" charset="0"/>
              <a:sym typeface="Georgia"/>
            </a:endParaRPr>
          </a:p>
        </p:txBody>
      </p:sp>
      <p:grpSp>
        <p:nvGrpSpPr>
          <p:cNvPr id="283" name="Google Shape;283;p20"/>
          <p:cNvGrpSpPr/>
          <p:nvPr/>
        </p:nvGrpSpPr>
        <p:grpSpPr>
          <a:xfrm>
            <a:off x="476250" y="1143000"/>
            <a:ext cx="3810000" cy="3047925"/>
            <a:chOff x="476250" y="1143000"/>
            <a:chExt cx="3810000" cy="3047925"/>
          </a:xfrm>
        </p:grpSpPr>
        <p:sp>
          <p:nvSpPr>
            <p:cNvPr id="284" name="Google Shape;284;p20"/>
            <p:cNvSpPr txBox="1"/>
            <p:nvPr/>
          </p:nvSpPr>
          <p:spPr>
            <a:xfrm>
              <a:off x="476250" y="1143000"/>
              <a:ext cx="3810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dirty="0">
                  <a:solidFill>
                    <a:srgbClr val="1E2761"/>
                  </a:solidFill>
                  <a:latin typeface="Calibri" panose="020F0502020204030204" pitchFamily="34" charset="0"/>
                  <a:ea typeface="Georgia"/>
                  <a:cs typeface="Calibri" panose="020F0502020204030204" pitchFamily="34" charset="0"/>
                  <a:sym typeface="Georgia"/>
                </a:rPr>
                <a:t>TRAINING PHASE</a:t>
              </a:r>
              <a:endParaRPr sz="1400" b="1" dirty="0">
                <a:solidFill>
                  <a:srgbClr val="1E2761"/>
                </a:solidFill>
                <a:latin typeface="Calibri" panose="020F0502020204030204" pitchFamily="34" charset="0"/>
                <a:ea typeface="Georgia"/>
                <a:cs typeface="Calibri" panose="020F0502020204030204" pitchFamily="34" charset="0"/>
                <a:sym typeface="Georgia"/>
              </a:endParaRPr>
            </a:p>
          </p:txBody>
        </p:sp>
        <p:grpSp>
          <p:nvGrpSpPr>
            <p:cNvPr id="285" name="Google Shape;285;p20"/>
            <p:cNvGrpSpPr/>
            <p:nvPr/>
          </p:nvGrpSpPr>
          <p:grpSpPr>
            <a:xfrm>
              <a:off x="476250" y="1476375"/>
              <a:ext cx="3762525" cy="381000"/>
              <a:chOff x="0" y="0"/>
              <a:chExt cx="3762525" cy="381000"/>
            </a:xfrm>
          </p:grpSpPr>
          <p:sp>
            <p:nvSpPr>
              <p:cNvPr id="286" name="Google Shape;286;p20"/>
              <p:cNvSpPr/>
              <p:nvPr/>
            </p:nvSpPr>
            <p:spPr>
              <a:xfrm>
                <a:off x="0" y="0"/>
                <a:ext cx="342900" cy="3429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288" name="Google Shape;288;p20"/>
              <p:cNvSpPr txBox="1"/>
              <p:nvPr/>
            </p:nvSpPr>
            <p:spPr>
              <a:xfrm>
                <a:off x="428625" y="0"/>
                <a:ext cx="33339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1. Normal Images Only</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Train on defect-free </a:t>
                </a:r>
                <a:r>
                  <a:rPr lang="en-US" sz="1000" b="0" dirty="0" err="1">
                    <a:solidFill>
                      <a:srgbClr val="5A5F7A"/>
                    </a:solidFill>
                    <a:latin typeface="Calibri" panose="020F0502020204030204" pitchFamily="34" charset="0"/>
                    <a:ea typeface="Calibri"/>
                    <a:cs typeface="Calibri" panose="020F0502020204030204" pitchFamily="34" charset="0"/>
                    <a:sym typeface="Calibri"/>
                  </a:rPr>
                  <a:t>MVTec</a:t>
                </a:r>
                <a:r>
                  <a:rPr lang="en-US" sz="1000" b="0" dirty="0">
                    <a:solidFill>
                      <a:srgbClr val="5A5F7A"/>
                    </a:solidFill>
                    <a:latin typeface="Calibri" panose="020F0502020204030204" pitchFamily="34" charset="0"/>
                    <a:ea typeface="Calibri"/>
                    <a:cs typeface="Calibri" panose="020F0502020204030204" pitchFamily="34" charset="0"/>
                    <a:sym typeface="Calibri"/>
                  </a:rPr>
                  <a:t> product images.</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289" name="Google Shape;289;p20"/>
            <p:cNvGrpSpPr/>
            <p:nvPr/>
          </p:nvGrpSpPr>
          <p:grpSpPr>
            <a:xfrm>
              <a:off x="476250" y="1952625"/>
              <a:ext cx="3762525" cy="381000"/>
              <a:chOff x="0" y="0"/>
              <a:chExt cx="3762525" cy="381000"/>
            </a:xfrm>
          </p:grpSpPr>
          <p:sp>
            <p:nvSpPr>
              <p:cNvPr id="290" name="Google Shape;290;p20"/>
              <p:cNvSpPr/>
              <p:nvPr/>
            </p:nvSpPr>
            <p:spPr>
              <a:xfrm>
                <a:off x="0" y="0"/>
                <a:ext cx="342900" cy="3429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292" name="Google Shape;292;p20"/>
              <p:cNvSpPr txBox="1"/>
              <p:nvPr/>
            </p:nvSpPr>
            <p:spPr>
              <a:xfrm>
                <a:off x="428625" y="0"/>
                <a:ext cx="3333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2. Add Gaussian Noise</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Sample timestep and inject noise.</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293" name="Google Shape;293;p20"/>
            <p:cNvGrpSpPr/>
            <p:nvPr/>
          </p:nvGrpSpPr>
          <p:grpSpPr>
            <a:xfrm>
              <a:off x="476250" y="2428875"/>
              <a:ext cx="3762525" cy="381000"/>
              <a:chOff x="0" y="0"/>
              <a:chExt cx="3762525" cy="381000"/>
            </a:xfrm>
          </p:grpSpPr>
          <p:sp>
            <p:nvSpPr>
              <p:cNvPr id="294" name="Google Shape;294;p20"/>
              <p:cNvSpPr/>
              <p:nvPr/>
            </p:nvSpPr>
            <p:spPr>
              <a:xfrm>
                <a:off x="0" y="0"/>
                <a:ext cx="342900" cy="3429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296" name="Google Shape;296;p20"/>
              <p:cNvSpPr txBox="1"/>
              <p:nvPr/>
            </p:nvSpPr>
            <p:spPr>
              <a:xfrm>
                <a:off x="428625" y="0"/>
                <a:ext cx="3333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3. </a:t>
                </a:r>
                <a:r>
                  <a:rPr lang="en-US" sz="1100" b="1" dirty="0" err="1">
                    <a:solidFill>
                      <a:srgbClr val="1E2761"/>
                    </a:solidFill>
                    <a:latin typeface="Calibri" panose="020F0502020204030204" pitchFamily="34" charset="0"/>
                    <a:ea typeface="Georgia"/>
                    <a:cs typeface="Calibri" panose="020F0502020204030204" pitchFamily="34" charset="0"/>
                    <a:sym typeface="Georgia"/>
                  </a:rPr>
                  <a:t>DiT</a:t>
                </a:r>
                <a:r>
                  <a:rPr lang="en-US" sz="1100" b="1" dirty="0">
                    <a:solidFill>
                      <a:srgbClr val="1E2761"/>
                    </a:solidFill>
                    <a:latin typeface="Calibri" panose="020F0502020204030204" pitchFamily="34" charset="0"/>
                    <a:ea typeface="Georgia"/>
                    <a:cs typeface="Calibri" panose="020F0502020204030204" pitchFamily="34" charset="0"/>
                    <a:sym typeface="Georgia"/>
                  </a:rPr>
                  <a:t> Predicts Noise</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err="1">
                    <a:solidFill>
                      <a:srgbClr val="5A5F7A"/>
                    </a:solidFill>
                    <a:latin typeface="Calibri" panose="020F0502020204030204" pitchFamily="34" charset="0"/>
                    <a:ea typeface="Calibri"/>
                    <a:cs typeface="Calibri" panose="020F0502020204030204" pitchFamily="34" charset="0"/>
                    <a:sym typeface="Calibri"/>
                  </a:rPr>
                  <a:t>DiT</a:t>
                </a:r>
                <a:r>
                  <a:rPr lang="en-US" sz="1000" b="0" dirty="0">
                    <a:solidFill>
                      <a:srgbClr val="5A5F7A"/>
                    </a:solidFill>
                    <a:latin typeface="Calibri" panose="020F0502020204030204" pitchFamily="34" charset="0"/>
                    <a:ea typeface="Calibri"/>
                    <a:cs typeface="Calibri" panose="020F0502020204030204" pitchFamily="34" charset="0"/>
                    <a:sym typeface="Calibri"/>
                  </a:rPr>
                  <a:t>-Tiny estimates the injected noise.</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297" name="Google Shape;297;p20"/>
            <p:cNvGrpSpPr/>
            <p:nvPr/>
          </p:nvGrpSpPr>
          <p:grpSpPr>
            <a:xfrm>
              <a:off x="476250" y="2905125"/>
              <a:ext cx="3762525" cy="381000"/>
              <a:chOff x="0" y="0"/>
              <a:chExt cx="3762525" cy="381000"/>
            </a:xfrm>
          </p:grpSpPr>
          <p:sp>
            <p:nvSpPr>
              <p:cNvPr id="298" name="Google Shape;298;p20"/>
              <p:cNvSpPr/>
              <p:nvPr/>
            </p:nvSpPr>
            <p:spPr>
              <a:xfrm>
                <a:off x="0" y="0"/>
                <a:ext cx="342900" cy="3429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00" name="Google Shape;300;p20"/>
              <p:cNvSpPr txBox="1"/>
              <p:nvPr/>
            </p:nvSpPr>
            <p:spPr>
              <a:xfrm>
                <a:off x="428625" y="0"/>
                <a:ext cx="3333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4. Optimize MSE Loss</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Minimize error and update weights.</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301" name="Google Shape;301;p20"/>
            <p:cNvGrpSpPr/>
            <p:nvPr/>
          </p:nvGrpSpPr>
          <p:grpSpPr>
            <a:xfrm>
              <a:off x="476250" y="3381375"/>
              <a:ext cx="3762525" cy="381000"/>
              <a:chOff x="0" y="0"/>
              <a:chExt cx="3762525" cy="381000"/>
            </a:xfrm>
          </p:grpSpPr>
          <p:sp>
            <p:nvSpPr>
              <p:cNvPr id="302" name="Google Shape;302;p20"/>
              <p:cNvSpPr/>
              <p:nvPr/>
            </p:nvSpPr>
            <p:spPr>
              <a:xfrm>
                <a:off x="0" y="0"/>
                <a:ext cx="342900" cy="3429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04" name="Google Shape;304;p20"/>
              <p:cNvSpPr txBox="1"/>
              <p:nvPr/>
            </p:nvSpPr>
            <p:spPr>
              <a:xfrm>
                <a:off x="428625" y="0"/>
                <a:ext cx="3333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5. Save Checkpoint</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Store trained model weights.</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sp>
          <p:nvSpPr>
            <p:cNvPr id="305" name="Google Shape;305;p20"/>
            <p:cNvSpPr/>
            <p:nvPr/>
          </p:nvSpPr>
          <p:spPr>
            <a:xfrm>
              <a:off x="476250" y="3857625"/>
              <a:ext cx="3810000" cy="333300"/>
            </a:xfrm>
            <a:prstGeom prst="roundRect">
              <a:avLst>
                <a:gd name="adj" fmla="val 22857"/>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06" name="Google Shape;306;p20"/>
            <p:cNvSpPr txBox="1"/>
            <p:nvPr/>
          </p:nvSpPr>
          <p:spPr>
            <a:xfrm>
              <a:off x="476250" y="3857625"/>
              <a:ext cx="38100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a:solidFill>
                    <a:srgbClr val="FFFFFF"/>
                  </a:solidFill>
                  <a:latin typeface="Calibri" panose="020F0502020204030204" pitchFamily="34" charset="0"/>
                  <a:ea typeface="Georgia"/>
                  <a:cs typeface="Calibri" panose="020F0502020204030204" pitchFamily="34" charset="0"/>
                  <a:sym typeface="Georgia"/>
                </a:rPr>
                <a:t>OUTPUT: Trained Diffusion Checkpoint</a:t>
              </a:r>
              <a:endParaRPr sz="1000" b="1" dirty="0">
                <a:solidFill>
                  <a:srgbClr val="FFFFFF"/>
                </a:solidFill>
                <a:latin typeface="Calibri" panose="020F0502020204030204" pitchFamily="34" charset="0"/>
                <a:ea typeface="Georgia"/>
                <a:cs typeface="Calibri" panose="020F0502020204030204" pitchFamily="34" charset="0"/>
                <a:sym typeface="Georgia"/>
              </a:endParaRPr>
            </a:p>
          </p:txBody>
        </p:sp>
      </p:grpSp>
      <p:grpSp>
        <p:nvGrpSpPr>
          <p:cNvPr id="307" name="Google Shape;307;p20"/>
          <p:cNvGrpSpPr/>
          <p:nvPr/>
        </p:nvGrpSpPr>
        <p:grpSpPr>
          <a:xfrm>
            <a:off x="4857750" y="1143000"/>
            <a:ext cx="3810000" cy="3047925"/>
            <a:chOff x="4857750" y="1143000"/>
            <a:chExt cx="3810000" cy="3047925"/>
          </a:xfrm>
        </p:grpSpPr>
        <p:sp>
          <p:nvSpPr>
            <p:cNvPr id="308" name="Google Shape;308;p20"/>
            <p:cNvSpPr txBox="1"/>
            <p:nvPr/>
          </p:nvSpPr>
          <p:spPr>
            <a:xfrm>
              <a:off x="4857750" y="1143000"/>
              <a:ext cx="3810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dirty="0">
                  <a:solidFill>
                    <a:srgbClr val="F4A261"/>
                  </a:solidFill>
                  <a:latin typeface="Calibri" panose="020F0502020204030204" pitchFamily="34" charset="0"/>
                  <a:ea typeface="Georgia"/>
                  <a:cs typeface="Calibri" panose="020F0502020204030204" pitchFamily="34" charset="0"/>
                  <a:sym typeface="Georgia"/>
                </a:rPr>
                <a:t>INFERENCE PHASE</a:t>
              </a:r>
              <a:endParaRPr sz="1400" b="1" dirty="0">
                <a:solidFill>
                  <a:srgbClr val="F4A261"/>
                </a:solidFill>
                <a:latin typeface="Calibri" panose="020F0502020204030204" pitchFamily="34" charset="0"/>
                <a:ea typeface="Georgia"/>
                <a:cs typeface="Calibri" panose="020F0502020204030204" pitchFamily="34" charset="0"/>
                <a:sym typeface="Georgia"/>
              </a:endParaRPr>
            </a:p>
          </p:txBody>
        </p:sp>
        <p:grpSp>
          <p:nvGrpSpPr>
            <p:cNvPr id="309" name="Google Shape;309;p20"/>
            <p:cNvGrpSpPr/>
            <p:nvPr/>
          </p:nvGrpSpPr>
          <p:grpSpPr>
            <a:xfrm>
              <a:off x="4857750" y="1476375"/>
              <a:ext cx="3619650" cy="381000"/>
              <a:chOff x="0" y="0"/>
              <a:chExt cx="3619650" cy="381000"/>
            </a:xfrm>
          </p:grpSpPr>
          <p:sp>
            <p:nvSpPr>
              <p:cNvPr id="310" name="Google Shape;310;p20"/>
              <p:cNvSpPr/>
              <p:nvPr/>
            </p:nvSpPr>
            <p:spPr>
              <a:xfrm>
                <a:off x="0" y="0"/>
                <a:ext cx="342900" cy="342900"/>
              </a:xfrm>
              <a:prstGeom prst="roundRect">
                <a:avLst>
                  <a:gd name="adj" fmla="val 50000"/>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12" name="Google Shape;312;p20"/>
              <p:cNvSpPr txBox="1"/>
              <p:nvPr/>
            </p:nvSpPr>
            <p:spPr>
              <a:xfrm>
                <a:off x="476250" y="0"/>
                <a:ext cx="31434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1. Test Image Input</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Provide unknown product image.</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313" name="Google Shape;313;p20"/>
            <p:cNvGrpSpPr/>
            <p:nvPr/>
          </p:nvGrpSpPr>
          <p:grpSpPr>
            <a:xfrm>
              <a:off x="4857750" y="1952625"/>
              <a:ext cx="3619650" cy="381000"/>
              <a:chOff x="0" y="0"/>
              <a:chExt cx="3619650" cy="381000"/>
            </a:xfrm>
          </p:grpSpPr>
          <p:sp>
            <p:nvSpPr>
              <p:cNvPr id="314" name="Google Shape;314;p20"/>
              <p:cNvSpPr/>
              <p:nvPr/>
            </p:nvSpPr>
            <p:spPr>
              <a:xfrm>
                <a:off x="0" y="0"/>
                <a:ext cx="342900" cy="342900"/>
              </a:xfrm>
              <a:prstGeom prst="roundRect">
                <a:avLst>
                  <a:gd name="adj" fmla="val 50000"/>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16" name="Google Shape;316;p20"/>
              <p:cNvSpPr txBox="1"/>
              <p:nvPr/>
            </p:nvSpPr>
            <p:spPr>
              <a:xfrm>
                <a:off x="476250" y="0"/>
                <a:ext cx="31434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2. Partial Noising</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Noise image to selected timestep.</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317" name="Google Shape;317;p20"/>
            <p:cNvGrpSpPr/>
            <p:nvPr/>
          </p:nvGrpSpPr>
          <p:grpSpPr>
            <a:xfrm>
              <a:off x="4857750" y="2428875"/>
              <a:ext cx="3619650" cy="381000"/>
              <a:chOff x="0" y="0"/>
              <a:chExt cx="3619650" cy="381000"/>
            </a:xfrm>
          </p:grpSpPr>
          <p:sp>
            <p:nvSpPr>
              <p:cNvPr id="318" name="Google Shape;318;p20"/>
              <p:cNvSpPr/>
              <p:nvPr/>
            </p:nvSpPr>
            <p:spPr>
              <a:xfrm>
                <a:off x="0" y="0"/>
                <a:ext cx="342900" cy="342900"/>
              </a:xfrm>
              <a:prstGeom prst="roundRect">
                <a:avLst>
                  <a:gd name="adj" fmla="val 50000"/>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20" name="Google Shape;320;p20"/>
              <p:cNvSpPr txBox="1"/>
              <p:nvPr/>
            </p:nvSpPr>
            <p:spPr>
              <a:xfrm>
                <a:off x="476250" y="0"/>
                <a:ext cx="31434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3. DDIM Reconstruction</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Recover image via reverse diffusion.</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321" name="Google Shape;321;p20"/>
            <p:cNvGrpSpPr/>
            <p:nvPr/>
          </p:nvGrpSpPr>
          <p:grpSpPr>
            <a:xfrm>
              <a:off x="4857750" y="2905125"/>
              <a:ext cx="3608946" cy="447480"/>
              <a:chOff x="0" y="0"/>
              <a:chExt cx="3608946" cy="447480"/>
            </a:xfrm>
          </p:grpSpPr>
          <p:sp>
            <p:nvSpPr>
              <p:cNvPr id="322" name="Google Shape;322;p20"/>
              <p:cNvSpPr/>
              <p:nvPr/>
            </p:nvSpPr>
            <p:spPr>
              <a:xfrm>
                <a:off x="0" y="0"/>
                <a:ext cx="342900" cy="342900"/>
              </a:xfrm>
              <a:prstGeom prst="roundRect">
                <a:avLst>
                  <a:gd name="adj" fmla="val 50000"/>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24" name="Google Shape;324;p20"/>
              <p:cNvSpPr txBox="1"/>
              <p:nvPr/>
            </p:nvSpPr>
            <p:spPr>
              <a:xfrm>
                <a:off x="465546" y="66480"/>
                <a:ext cx="31434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4. Residual Comparison</a:t>
                </a:r>
                <a:endParaRPr sz="1100" b="1" dirty="0">
                  <a:solidFill>
                    <a:srgbClr val="1E2761"/>
                  </a:solidFill>
                  <a:latin typeface="Calibri" panose="020F0502020204030204" pitchFamily="34" charset="0"/>
                  <a:ea typeface="Georgia"/>
                  <a:cs typeface="Calibri" panose="020F0502020204030204" pitchFamily="34" charset="0"/>
                  <a:sym typeface="Georgia"/>
                </a:endParaRPr>
              </a:p>
              <a:p>
                <a:r>
                  <a:rPr lang="en-US" sz="1000" dirty="0">
                    <a:solidFill>
                      <a:srgbClr val="5A5F7A"/>
                    </a:solidFill>
                    <a:latin typeface="Calibri" panose="020F0502020204030204" pitchFamily="34" charset="0"/>
                    <a:cs typeface="Calibri" panose="020F0502020204030204" pitchFamily="34" charset="0"/>
                  </a:rPr>
                  <a:t>Compare reconstructed image with the original input</a:t>
                </a: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grpSp>
          <p:nvGrpSpPr>
            <p:cNvPr id="325" name="Google Shape;325;p20"/>
            <p:cNvGrpSpPr/>
            <p:nvPr/>
          </p:nvGrpSpPr>
          <p:grpSpPr>
            <a:xfrm>
              <a:off x="4857750" y="3381375"/>
              <a:ext cx="3619650" cy="381000"/>
              <a:chOff x="0" y="0"/>
              <a:chExt cx="3619650" cy="381000"/>
            </a:xfrm>
          </p:grpSpPr>
          <p:sp>
            <p:nvSpPr>
              <p:cNvPr id="326" name="Google Shape;326;p20"/>
              <p:cNvSpPr/>
              <p:nvPr/>
            </p:nvSpPr>
            <p:spPr>
              <a:xfrm>
                <a:off x="0" y="0"/>
                <a:ext cx="342900" cy="342900"/>
              </a:xfrm>
              <a:prstGeom prst="roundRect">
                <a:avLst>
                  <a:gd name="adj" fmla="val 50000"/>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28" name="Google Shape;328;p20"/>
              <p:cNvSpPr txBox="1"/>
              <p:nvPr/>
            </p:nvSpPr>
            <p:spPr>
              <a:xfrm>
                <a:off x="476250" y="0"/>
                <a:ext cx="31434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dirty="0">
                    <a:solidFill>
                      <a:srgbClr val="1E2761"/>
                    </a:solidFill>
                    <a:latin typeface="Calibri" panose="020F0502020204030204" pitchFamily="34" charset="0"/>
                    <a:ea typeface="Georgia"/>
                    <a:cs typeface="Calibri" panose="020F0502020204030204" pitchFamily="34" charset="0"/>
                    <a:sym typeface="Georgia"/>
                  </a:rPr>
                  <a:t>5. Heatmap + Verdict</a:t>
                </a:r>
                <a:endParaRPr sz="1100" b="1" dirty="0">
                  <a:solidFill>
                    <a:srgbClr val="1E2761"/>
                  </a:solidFill>
                  <a:latin typeface="Calibri" panose="020F0502020204030204" pitchFamily="34" charset="0"/>
                  <a:ea typeface="Georgia"/>
                  <a:cs typeface="Calibri" panose="020F0502020204030204" pitchFamily="34" charset="0"/>
                  <a:sym typeface="Georgia"/>
                </a:endParaRPr>
              </a:p>
              <a:p>
                <a:pPr marL="0" lvl="0" indent="0" algn="l" rtl="0">
                  <a:spcBef>
                    <a:spcPts val="0"/>
                  </a:spcBef>
                  <a:spcAft>
                    <a:spcPts val="0"/>
                  </a:spcAft>
                  <a:buNone/>
                </a:pPr>
                <a:r>
                  <a:rPr lang="en-US" sz="1000" b="0" dirty="0">
                    <a:solidFill>
                      <a:srgbClr val="5A5F7A"/>
                    </a:solidFill>
                    <a:latin typeface="Calibri" panose="020F0502020204030204" pitchFamily="34" charset="0"/>
                    <a:ea typeface="Calibri"/>
                    <a:cs typeface="Calibri" panose="020F0502020204030204" pitchFamily="34" charset="0"/>
                    <a:sym typeface="Calibri"/>
                  </a:rPr>
                  <a:t>Generate score and decision.</a:t>
                </a:r>
                <a:endParaRPr sz="1000" b="0" dirty="0">
                  <a:solidFill>
                    <a:srgbClr val="5A5F7A"/>
                  </a:solidFill>
                  <a:latin typeface="Calibri" panose="020F0502020204030204" pitchFamily="34" charset="0"/>
                  <a:ea typeface="Calibri"/>
                  <a:cs typeface="Calibri" panose="020F0502020204030204" pitchFamily="34" charset="0"/>
                  <a:sym typeface="Calibri"/>
                </a:endParaRPr>
              </a:p>
            </p:txBody>
          </p:sp>
        </p:grpSp>
        <p:sp>
          <p:nvSpPr>
            <p:cNvPr id="329" name="Google Shape;329;p20"/>
            <p:cNvSpPr/>
            <p:nvPr/>
          </p:nvSpPr>
          <p:spPr>
            <a:xfrm>
              <a:off x="4857750" y="3857625"/>
              <a:ext cx="3810000" cy="333300"/>
            </a:xfrm>
            <a:prstGeom prst="roundRect">
              <a:avLst>
                <a:gd name="adj" fmla="val 22857"/>
              </a:avLst>
            </a:prstGeom>
            <a:solidFill>
              <a:srgbClr val="F4A26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30" name="Google Shape;330;p20"/>
            <p:cNvSpPr txBox="1"/>
            <p:nvPr/>
          </p:nvSpPr>
          <p:spPr>
            <a:xfrm>
              <a:off x="4857750" y="3857625"/>
              <a:ext cx="38100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a:solidFill>
                    <a:srgbClr val="FFFFFF"/>
                  </a:solidFill>
                  <a:latin typeface="Calibri" panose="020F0502020204030204" pitchFamily="34" charset="0"/>
                  <a:ea typeface="Georgia"/>
                  <a:cs typeface="Calibri" panose="020F0502020204030204" pitchFamily="34" charset="0"/>
                  <a:sym typeface="Georgia"/>
                </a:rPr>
                <a:t>OUTPUT: Heatmap + Score + Verdict</a:t>
              </a:r>
              <a:endParaRPr sz="1000" b="1" dirty="0">
                <a:solidFill>
                  <a:srgbClr val="FFFFFF"/>
                </a:solidFill>
                <a:latin typeface="Calibri" panose="020F0502020204030204" pitchFamily="34" charset="0"/>
                <a:ea typeface="Georgia"/>
                <a:cs typeface="Calibri" panose="020F0502020204030204" pitchFamily="34" charset="0"/>
                <a:sym typeface="Georgia"/>
              </a:endParaRPr>
            </a:p>
          </p:txBody>
        </p:sp>
      </p:grpSp>
      <p:grpSp>
        <p:nvGrpSpPr>
          <p:cNvPr id="331" name="Google Shape;331;p20"/>
          <p:cNvGrpSpPr/>
          <p:nvPr/>
        </p:nvGrpSpPr>
        <p:grpSpPr>
          <a:xfrm>
            <a:off x="3333607" y="2113178"/>
            <a:ext cx="1401497" cy="939949"/>
            <a:chOff x="3952875" y="2162175"/>
            <a:chExt cx="1238400" cy="962175"/>
          </a:xfrm>
        </p:grpSpPr>
        <p:sp>
          <p:nvSpPr>
            <p:cNvPr id="332" name="Google Shape;332;p20"/>
            <p:cNvSpPr/>
            <p:nvPr/>
          </p:nvSpPr>
          <p:spPr>
            <a:xfrm>
              <a:off x="3952875" y="2162175"/>
              <a:ext cx="1238400" cy="247800"/>
            </a:xfrm>
            <a:prstGeom prst="roundRect">
              <a:avLst>
                <a:gd name="adj" fmla="val 50000"/>
              </a:avLst>
            </a:prstGeom>
            <a:solidFill>
              <a:srgbClr val="FFFFFF"/>
            </a:solidFill>
            <a:ln w="10775" cap="flat" cmpd="sng">
              <a:solidFill>
                <a:srgbClr val="1E276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33" name="Google Shape;333;p20"/>
            <p:cNvSpPr txBox="1"/>
            <p:nvPr/>
          </p:nvSpPr>
          <p:spPr>
            <a:xfrm>
              <a:off x="3952875" y="2162175"/>
              <a:ext cx="12384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849" b="1" dirty="0">
                  <a:solidFill>
                    <a:srgbClr val="1E2761"/>
                  </a:solidFill>
                  <a:latin typeface="Calibri" panose="020F0502020204030204" pitchFamily="34" charset="0"/>
                  <a:ea typeface="Calibri"/>
                  <a:cs typeface="Calibri" panose="020F0502020204030204" pitchFamily="34" charset="0"/>
                  <a:sym typeface="Calibri"/>
                </a:rPr>
                <a:t>Learns normal patterns</a:t>
              </a:r>
              <a:endParaRPr sz="849" b="1" dirty="0">
                <a:solidFill>
                  <a:srgbClr val="1E2761"/>
                </a:solidFill>
                <a:latin typeface="Calibri" panose="020F0502020204030204" pitchFamily="34" charset="0"/>
                <a:ea typeface="Calibri"/>
                <a:cs typeface="Calibri" panose="020F0502020204030204" pitchFamily="34" charset="0"/>
                <a:sym typeface="Calibri"/>
              </a:endParaRPr>
            </a:p>
          </p:txBody>
        </p:sp>
        <p:sp>
          <p:nvSpPr>
            <p:cNvPr id="334" name="Google Shape;334;p20"/>
            <p:cNvSpPr/>
            <p:nvPr/>
          </p:nvSpPr>
          <p:spPr>
            <a:xfrm>
              <a:off x="3952875" y="2876550"/>
              <a:ext cx="1238400" cy="247800"/>
            </a:xfrm>
            <a:prstGeom prst="roundRect">
              <a:avLst>
                <a:gd name="adj" fmla="val 50000"/>
              </a:avLst>
            </a:prstGeom>
            <a:solidFill>
              <a:srgbClr val="FFFFFF"/>
            </a:solidFill>
            <a:ln w="10775" cap="flat" cmpd="sng">
              <a:solidFill>
                <a:srgbClr val="F4A26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335" name="Google Shape;335;p20"/>
            <p:cNvSpPr txBox="1"/>
            <p:nvPr/>
          </p:nvSpPr>
          <p:spPr>
            <a:xfrm>
              <a:off x="3952875" y="2876550"/>
              <a:ext cx="12384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849" b="1" dirty="0">
                  <a:solidFill>
                    <a:srgbClr val="F4A261"/>
                  </a:solidFill>
                  <a:latin typeface="Calibri" panose="020F0502020204030204" pitchFamily="34" charset="0"/>
                  <a:ea typeface="Calibri"/>
                  <a:cs typeface="Calibri" panose="020F0502020204030204" pitchFamily="34" charset="0"/>
                  <a:sym typeface="Calibri"/>
                </a:rPr>
                <a:t>Detects deviations</a:t>
              </a:r>
              <a:endParaRPr sz="849" b="1" dirty="0">
                <a:solidFill>
                  <a:srgbClr val="F4A261"/>
                </a:solidFill>
                <a:latin typeface="Calibri" panose="020F0502020204030204" pitchFamily="34" charset="0"/>
                <a:ea typeface="Calibri"/>
                <a:cs typeface="Calibri" panose="020F0502020204030204" pitchFamily="34" charset="0"/>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WALKTHROUGH</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Live Demo</a:t>
            </a:r>
            <a:endParaRPr lang="en-US" sz="2200" dirty="0"/>
          </a:p>
        </p:txBody>
      </p:sp>
      <p:sp>
        <p:nvSpPr>
          <p:cNvPr id="9" name="Shape 7"/>
          <p:cNvSpPr/>
          <p:nvPr/>
        </p:nvSpPr>
        <p:spPr>
          <a:xfrm>
            <a:off x="192023" y="1186642"/>
            <a:ext cx="3690851" cy="3899916"/>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182880" y="1188720"/>
            <a:ext cx="82296" cy="3899916"/>
          </a:xfrm>
          <a:prstGeom prst="rect">
            <a:avLst/>
          </a:prstGeom>
          <a:solidFill>
            <a:srgbClr val="F4A261"/>
          </a:solidFill>
          <a:ln w="12700">
            <a:solidFill>
              <a:srgbClr val="F4A261"/>
            </a:solidFill>
            <a:prstDash val="solid"/>
          </a:ln>
        </p:spPr>
        <p:txBody>
          <a:bodyPr/>
          <a:lstStyle/>
          <a:p>
            <a:endParaRPr lang="en-US"/>
          </a:p>
        </p:txBody>
      </p:sp>
      <p:sp>
        <p:nvSpPr>
          <p:cNvPr id="11" name="Shape 9"/>
          <p:cNvSpPr/>
          <p:nvPr/>
        </p:nvSpPr>
        <p:spPr>
          <a:xfrm>
            <a:off x="685800" y="1435608"/>
            <a:ext cx="128016" cy="128016"/>
          </a:xfrm>
          <a:prstGeom prst="rect">
            <a:avLst/>
          </a:prstGeom>
          <a:solidFill>
            <a:srgbClr val="F4A261"/>
          </a:solidFill>
          <a:ln w="12700">
            <a:solidFill>
              <a:srgbClr val="F4A261"/>
            </a:solidFill>
            <a:prstDash val="solid"/>
          </a:ln>
        </p:spPr>
        <p:txBody>
          <a:bodyPr/>
          <a:lstStyle/>
          <a:p>
            <a:endParaRPr lang="en-US"/>
          </a:p>
        </p:txBody>
      </p:sp>
      <p:sp>
        <p:nvSpPr>
          <p:cNvPr id="12" name="Text 10"/>
          <p:cNvSpPr/>
          <p:nvPr/>
        </p:nvSpPr>
        <p:spPr>
          <a:xfrm>
            <a:off x="905256" y="137160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What is demonstrated</a:t>
            </a:r>
            <a:endParaRPr lang="en-US" sz="1300" dirty="0"/>
          </a:p>
        </p:txBody>
      </p:sp>
      <p:sp>
        <p:nvSpPr>
          <p:cNvPr id="13" name="Shape 11"/>
          <p:cNvSpPr/>
          <p:nvPr/>
        </p:nvSpPr>
        <p:spPr>
          <a:xfrm>
            <a:off x="740664" y="1792224"/>
            <a:ext cx="82296" cy="82296"/>
          </a:xfrm>
          <a:prstGeom prst="rect">
            <a:avLst/>
          </a:prstGeom>
          <a:solidFill>
            <a:srgbClr val="F4A261"/>
          </a:solidFill>
          <a:ln w="12700">
            <a:solidFill>
              <a:srgbClr val="F4A261"/>
            </a:solidFill>
            <a:prstDash val="solid"/>
          </a:ln>
        </p:spPr>
        <p:txBody>
          <a:bodyPr/>
          <a:lstStyle/>
          <a:p>
            <a:endParaRPr lang="en-US"/>
          </a:p>
        </p:txBody>
      </p:sp>
      <p:sp>
        <p:nvSpPr>
          <p:cNvPr id="14" name="Text 12"/>
          <p:cNvSpPr/>
          <p:nvPr/>
        </p:nvSpPr>
        <p:spPr>
          <a:xfrm>
            <a:off x="960120" y="1691640"/>
            <a:ext cx="3931920"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Loading a test image from MVTec</a:t>
            </a:r>
            <a:endParaRPr lang="en-US" sz="1100" dirty="0"/>
          </a:p>
        </p:txBody>
      </p:sp>
      <p:sp>
        <p:nvSpPr>
          <p:cNvPr id="15" name="Shape 13"/>
          <p:cNvSpPr/>
          <p:nvPr/>
        </p:nvSpPr>
        <p:spPr>
          <a:xfrm>
            <a:off x="740664" y="2039112"/>
            <a:ext cx="82296" cy="82296"/>
          </a:xfrm>
          <a:prstGeom prst="rect">
            <a:avLst/>
          </a:prstGeom>
          <a:solidFill>
            <a:srgbClr val="F4A261"/>
          </a:solidFill>
          <a:ln w="12700">
            <a:solidFill>
              <a:srgbClr val="F4A261"/>
            </a:solidFill>
            <a:prstDash val="solid"/>
          </a:ln>
        </p:spPr>
        <p:txBody>
          <a:bodyPr/>
          <a:lstStyle/>
          <a:p>
            <a:endParaRPr lang="en-US"/>
          </a:p>
        </p:txBody>
      </p:sp>
      <p:sp>
        <p:nvSpPr>
          <p:cNvPr id="16" name="Text 14"/>
          <p:cNvSpPr/>
          <p:nvPr/>
        </p:nvSpPr>
        <p:spPr>
          <a:xfrm>
            <a:off x="960120" y="1938528"/>
            <a:ext cx="3931920"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Partial noising and DDIM reconstruction</a:t>
            </a:r>
            <a:endParaRPr lang="en-US" sz="1100" dirty="0"/>
          </a:p>
        </p:txBody>
      </p:sp>
      <p:sp>
        <p:nvSpPr>
          <p:cNvPr id="17" name="Shape 15"/>
          <p:cNvSpPr/>
          <p:nvPr/>
        </p:nvSpPr>
        <p:spPr>
          <a:xfrm>
            <a:off x="740664" y="2286000"/>
            <a:ext cx="82296" cy="82296"/>
          </a:xfrm>
          <a:prstGeom prst="rect">
            <a:avLst/>
          </a:prstGeom>
          <a:solidFill>
            <a:srgbClr val="F4A261"/>
          </a:solidFill>
          <a:ln w="12700">
            <a:solidFill>
              <a:srgbClr val="F4A261"/>
            </a:solidFill>
            <a:prstDash val="solid"/>
          </a:ln>
        </p:spPr>
        <p:txBody>
          <a:bodyPr/>
          <a:lstStyle/>
          <a:p>
            <a:endParaRPr lang="en-US"/>
          </a:p>
        </p:txBody>
      </p:sp>
      <p:sp>
        <p:nvSpPr>
          <p:cNvPr id="18" name="Text 16"/>
          <p:cNvSpPr/>
          <p:nvPr/>
        </p:nvSpPr>
        <p:spPr>
          <a:xfrm>
            <a:off x="960120" y="2185416"/>
            <a:ext cx="3931920" cy="246888"/>
          </a:xfrm>
          <a:prstGeom prst="rect">
            <a:avLst/>
          </a:prstGeom>
          <a:noFill/>
          <a:ln/>
        </p:spPr>
        <p:txBody>
          <a:bodyPr wrap="square" lIns="0" tIns="0" rIns="0" bIns="0" rtlCol="0" anchor="ctr"/>
          <a:lstStyle/>
          <a:p>
            <a:r>
              <a:rPr lang="en-US" sz="1100" dirty="0">
                <a:solidFill>
                  <a:srgbClr val="1A1B2E"/>
                </a:solidFill>
                <a:latin typeface="Calibri" pitchFamily="34" charset="0"/>
                <a:cs typeface="Calibri" pitchFamily="34" charset="-120"/>
              </a:rPr>
              <a:t>Generation of the pixel + feature anomaly heatmap</a:t>
            </a:r>
          </a:p>
        </p:txBody>
      </p:sp>
      <p:sp>
        <p:nvSpPr>
          <p:cNvPr id="19" name="Shape 17"/>
          <p:cNvSpPr/>
          <p:nvPr/>
        </p:nvSpPr>
        <p:spPr>
          <a:xfrm>
            <a:off x="740664" y="2532888"/>
            <a:ext cx="82296" cy="82296"/>
          </a:xfrm>
          <a:prstGeom prst="rect">
            <a:avLst/>
          </a:prstGeom>
          <a:solidFill>
            <a:srgbClr val="F4A261"/>
          </a:solidFill>
          <a:ln w="12700">
            <a:solidFill>
              <a:srgbClr val="F4A261"/>
            </a:solidFill>
            <a:prstDash val="solid"/>
          </a:ln>
        </p:spPr>
        <p:txBody>
          <a:bodyPr/>
          <a:lstStyle/>
          <a:p>
            <a:endParaRPr lang="en-US"/>
          </a:p>
        </p:txBody>
      </p:sp>
      <p:sp>
        <p:nvSpPr>
          <p:cNvPr id="20" name="Text 18"/>
          <p:cNvSpPr/>
          <p:nvPr/>
        </p:nvSpPr>
        <p:spPr>
          <a:xfrm>
            <a:off x="960120" y="2432304"/>
            <a:ext cx="3931920"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Image-level anomaly score</a:t>
            </a:r>
            <a:endParaRPr lang="en-US" sz="1100" dirty="0"/>
          </a:p>
        </p:txBody>
      </p:sp>
      <p:sp>
        <p:nvSpPr>
          <p:cNvPr id="21" name="Shape 19"/>
          <p:cNvSpPr/>
          <p:nvPr/>
        </p:nvSpPr>
        <p:spPr>
          <a:xfrm>
            <a:off x="740664" y="2779776"/>
            <a:ext cx="82296" cy="82296"/>
          </a:xfrm>
          <a:prstGeom prst="rect">
            <a:avLst/>
          </a:prstGeom>
          <a:solidFill>
            <a:srgbClr val="F4A261"/>
          </a:solidFill>
          <a:ln w="12700">
            <a:solidFill>
              <a:srgbClr val="F4A261"/>
            </a:solidFill>
            <a:prstDash val="solid"/>
          </a:ln>
        </p:spPr>
        <p:txBody>
          <a:bodyPr/>
          <a:lstStyle/>
          <a:p>
            <a:endParaRPr lang="en-US"/>
          </a:p>
        </p:txBody>
      </p:sp>
      <p:sp>
        <p:nvSpPr>
          <p:cNvPr id="22" name="Text 20"/>
          <p:cNvSpPr/>
          <p:nvPr/>
        </p:nvSpPr>
        <p:spPr>
          <a:xfrm>
            <a:off x="960120" y="2679192"/>
            <a:ext cx="3931920"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Qualitative defect localization</a:t>
            </a:r>
            <a:endParaRPr lang="en-US" sz="1100" dirty="0"/>
          </a:p>
        </p:txBody>
      </p:sp>
      <p:sp>
        <p:nvSpPr>
          <p:cNvPr id="23" name="Shape 21"/>
          <p:cNvSpPr/>
          <p:nvPr/>
        </p:nvSpPr>
        <p:spPr>
          <a:xfrm>
            <a:off x="685800" y="3172968"/>
            <a:ext cx="128016" cy="128016"/>
          </a:xfrm>
          <a:prstGeom prst="rect">
            <a:avLst/>
          </a:prstGeom>
          <a:solidFill>
            <a:srgbClr val="F4A261"/>
          </a:solidFill>
          <a:ln w="12700">
            <a:solidFill>
              <a:srgbClr val="F4A261"/>
            </a:solidFill>
            <a:prstDash val="solid"/>
          </a:ln>
        </p:spPr>
        <p:txBody>
          <a:bodyPr/>
          <a:lstStyle/>
          <a:p>
            <a:endParaRPr lang="en-US"/>
          </a:p>
        </p:txBody>
      </p:sp>
      <p:sp>
        <p:nvSpPr>
          <p:cNvPr id="24" name="Text 22"/>
          <p:cNvSpPr/>
          <p:nvPr/>
        </p:nvSpPr>
        <p:spPr>
          <a:xfrm>
            <a:off x="905256" y="310896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What the demo shows</a:t>
            </a:r>
            <a:endParaRPr lang="en-US" sz="1300" dirty="0"/>
          </a:p>
        </p:txBody>
      </p:sp>
      <p:sp>
        <p:nvSpPr>
          <p:cNvPr id="25" name="Shape 23"/>
          <p:cNvSpPr/>
          <p:nvPr/>
        </p:nvSpPr>
        <p:spPr>
          <a:xfrm>
            <a:off x="740664" y="3529584"/>
            <a:ext cx="82296" cy="82296"/>
          </a:xfrm>
          <a:prstGeom prst="rect">
            <a:avLst/>
          </a:prstGeom>
          <a:solidFill>
            <a:srgbClr val="F4A261"/>
          </a:solidFill>
          <a:ln w="12700">
            <a:solidFill>
              <a:srgbClr val="F4A261"/>
            </a:solidFill>
            <a:prstDash val="solid"/>
          </a:ln>
        </p:spPr>
        <p:txBody>
          <a:bodyPr/>
          <a:lstStyle/>
          <a:p>
            <a:endParaRPr lang="en-US"/>
          </a:p>
        </p:txBody>
      </p:sp>
      <p:sp>
        <p:nvSpPr>
          <p:cNvPr id="26" name="Text 24"/>
          <p:cNvSpPr/>
          <p:nvPr/>
        </p:nvSpPr>
        <p:spPr>
          <a:xfrm>
            <a:off x="960120" y="3429000"/>
            <a:ext cx="2356658"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End-to-end pipeline behavior</a:t>
            </a:r>
            <a:endParaRPr lang="en-US" sz="1100" dirty="0"/>
          </a:p>
        </p:txBody>
      </p:sp>
      <p:sp>
        <p:nvSpPr>
          <p:cNvPr id="27" name="Shape 25"/>
          <p:cNvSpPr/>
          <p:nvPr/>
        </p:nvSpPr>
        <p:spPr>
          <a:xfrm>
            <a:off x="731520" y="3869946"/>
            <a:ext cx="82296" cy="82296"/>
          </a:xfrm>
          <a:prstGeom prst="rect">
            <a:avLst/>
          </a:prstGeom>
          <a:solidFill>
            <a:srgbClr val="F4A261"/>
          </a:solidFill>
          <a:ln w="12700">
            <a:solidFill>
              <a:srgbClr val="F4A261"/>
            </a:solidFill>
            <a:prstDash val="solid"/>
          </a:ln>
        </p:spPr>
        <p:txBody>
          <a:bodyPr/>
          <a:lstStyle/>
          <a:p>
            <a:endParaRPr lang="en-US"/>
          </a:p>
        </p:txBody>
      </p:sp>
      <p:sp>
        <p:nvSpPr>
          <p:cNvPr id="28" name="Text 26"/>
          <p:cNvSpPr/>
          <p:nvPr/>
        </p:nvSpPr>
        <p:spPr>
          <a:xfrm>
            <a:off x="955271" y="3795918"/>
            <a:ext cx="3931920"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Difference between normal and anomalous inputs</a:t>
            </a:r>
            <a:endParaRPr lang="en-US" sz="1100" dirty="0"/>
          </a:p>
        </p:txBody>
      </p:sp>
      <p:sp>
        <p:nvSpPr>
          <p:cNvPr id="29" name="Shape 27"/>
          <p:cNvSpPr/>
          <p:nvPr/>
        </p:nvSpPr>
        <p:spPr>
          <a:xfrm>
            <a:off x="731520" y="4140758"/>
            <a:ext cx="82296" cy="82296"/>
          </a:xfrm>
          <a:prstGeom prst="rect">
            <a:avLst/>
          </a:prstGeom>
          <a:solidFill>
            <a:srgbClr val="F4A261"/>
          </a:solidFill>
          <a:ln w="12700">
            <a:solidFill>
              <a:srgbClr val="F4A261"/>
            </a:solidFill>
            <a:prstDash val="solid"/>
          </a:ln>
        </p:spPr>
        <p:txBody>
          <a:bodyPr/>
          <a:lstStyle/>
          <a:p>
            <a:endParaRPr lang="en-US"/>
          </a:p>
        </p:txBody>
      </p:sp>
      <p:sp>
        <p:nvSpPr>
          <p:cNvPr id="30" name="Text 28"/>
          <p:cNvSpPr/>
          <p:nvPr/>
        </p:nvSpPr>
        <p:spPr>
          <a:xfrm>
            <a:off x="905256" y="4053657"/>
            <a:ext cx="3931920"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How the model highlights defective regions</a:t>
            </a:r>
            <a:endParaRPr lang="en-US" sz="1100" dirty="0"/>
          </a:p>
        </p:txBody>
      </p:sp>
      <p:pic>
        <p:nvPicPr>
          <p:cNvPr id="32" name="Picture 31">
            <a:extLst>
              <a:ext uri="{FF2B5EF4-FFF2-40B4-BE49-F238E27FC236}">
                <a16:creationId xmlns:a16="http://schemas.microsoft.com/office/drawing/2014/main" id="{345A31AC-BF8B-2AAF-E7C2-059A9A515018}"/>
              </a:ext>
            </a:extLst>
          </p:cNvPr>
          <p:cNvPicPr>
            <a:picLocks noChangeAspect="1"/>
          </p:cNvPicPr>
          <p:nvPr/>
        </p:nvPicPr>
        <p:blipFill>
          <a:blip r:embed="rId3"/>
          <a:stretch>
            <a:fillRect/>
          </a:stretch>
        </p:blipFill>
        <p:spPr>
          <a:xfrm>
            <a:off x="4230346" y="3076773"/>
            <a:ext cx="4400758" cy="1975470"/>
          </a:xfrm>
          <a:prstGeom prst="rect">
            <a:avLst/>
          </a:prstGeom>
        </p:spPr>
      </p:pic>
      <p:pic>
        <p:nvPicPr>
          <p:cNvPr id="35" name="Picture 34">
            <a:extLst>
              <a:ext uri="{FF2B5EF4-FFF2-40B4-BE49-F238E27FC236}">
                <a16:creationId xmlns:a16="http://schemas.microsoft.com/office/drawing/2014/main" id="{48D65782-EA49-6261-A3C1-6FA7DA8E7B98}"/>
              </a:ext>
            </a:extLst>
          </p:cNvPr>
          <p:cNvPicPr>
            <a:picLocks noChangeAspect="1"/>
          </p:cNvPicPr>
          <p:nvPr/>
        </p:nvPicPr>
        <p:blipFill>
          <a:blip r:embed="rId4"/>
          <a:stretch>
            <a:fillRect/>
          </a:stretch>
        </p:blipFill>
        <p:spPr>
          <a:xfrm>
            <a:off x="4236166" y="938647"/>
            <a:ext cx="4400758" cy="2108060"/>
          </a:xfrm>
          <a:prstGeom prst="rect">
            <a:avLst/>
          </a:prstGeom>
        </p:spPr>
      </p:pic>
      <p:sp>
        <p:nvSpPr>
          <p:cNvPr id="4" name="Text 24">
            <a:extLst>
              <a:ext uri="{FF2B5EF4-FFF2-40B4-BE49-F238E27FC236}">
                <a16:creationId xmlns:a16="http://schemas.microsoft.com/office/drawing/2014/main" id="{4207CA95-9F32-DCC0-012C-BF450BAAAD6F}"/>
              </a:ext>
            </a:extLst>
          </p:cNvPr>
          <p:cNvSpPr/>
          <p:nvPr/>
        </p:nvSpPr>
        <p:spPr>
          <a:xfrm>
            <a:off x="961643" y="3598743"/>
            <a:ext cx="2356658" cy="246888"/>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Image level anomaly score</a:t>
            </a:r>
            <a:endParaRPr lang="en-US" sz="1100" dirty="0"/>
          </a:p>
        </p:txBody>
      </p:sp>
      <p:sp>
        <p:nvSpPr>
          <p:cNvPr id="6" name="Shape 23">
            <a:extLst>
              <a:ext uri="{FF2B5EF4-FFF2-40B4-BE49-F238E27FC236}">
                <a16:creationId xmlns:a16="http://schemas.microsoft.com/office/drawing/2014/main" id="{E74E13AB-B01D-E505-2C03-497E873379C9}"/>
              </a:ext>
            </a:extLst>
          </p:cNvPr>
          <p:cNvSpPr/>
          <p:nvPr/>
        </p:nvSpPr>
        <p:spPr>
          <a:xfrm>
            <a:off x="709214" y="3666008"/>
            <a:ext cx="82296" cy="82296"/>
          </a:xfrm>
          <a:prstGeom prst="rect">
            <a:avLst/>
          </a:prstGeom>
          <a:solidFill>
            <a:srgbClr val="F4A261"/>
          </a:solidFill>
          <a:ln w="12700">
            <a:solidFill>
              <a:srgbClr val="F4A261"/>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EVALUATION</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Performance Metrics</a:t>
            </a:r>
            <a:endParaRPr lang="en-US" sz="2200" dirty="0"/>
          </a:p>
        </p:txBody>
      </p:sp>
      <p:sp>
        <p:nvSpPr>
          <p:cNvPr id="9" name="Shape 7"/>
          <p:cNvSpPr/>
          <p:nvPr/>
        </p:nvSpPr>
        <p:spPr>
          <a:xfrm>
            <a:off x="457200" y="1188720"/>
            <a:ext cx="3650105" cy="352044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457200" y="1188720"/>
            <a:ext cx="54864" cy="3520440"/>
          </a:xfrm>
          <a:prstGeom prst="rect">
            <a:avLst/>
          </a:prstGeom>
          <a:solidFill>
            <a:srgbClr val="F4A261"/>
          </a:solidFill>
          <a:ln w="12700">
            <a:solidFill>
              <a:srgbClr val="F4A261"/>
            </a:solidFill>
            <a:prstDash val="solid"/>
          </a:ln>
        </p:spPr>
        <p:txBody>
          <a:bodyPr/>
          <a:lstStyle/>
          <a:p>
            <a:endParaRPr lang="en-US"/>
          </a:p>
        </p:txBody>
      </p:sp>
      <p:sp>
        <p:nvSpPr>
          <p:cNvPr id="11" name="Text 9"/>
          <p:cNvSpPr/>
          <p:nvPr/>
        </p:nvSpPr>
        <p:spPr>
          <a:xfrm>
            <a:off x="685800" y="1371600"/>
            <a:ext cx="3189157" cy="640080"/>
          </a:xfrm>
          <a:prstGeom prst="rect">
            <a:avLst/>
          </a:prstGeom>
          <a:noFill/>
          <a:ln/>
        </p:spPr>
        <p:txBody>
          <a:bodyPr wrap="square" lIns="0" tIns="0" rIns="0" bIns="0" rtlCol="0" anchor="t"/>
          <a:lstStyle/>
          <a:p>
            <a:pPr marL="0" indent="0">
              <a:buNone/>
            </a:pPr>
            <a:r>
              <a:rPr lang="en-US" sz="1150" dirty="0">
                <a:solidFill>
                  <a:srgbClr val="1A1B2E"/>
                </a:solidFill>
                <a:latin typeface="Calibri" pitchFamily="34" charset="0"/>
                <a:ea typeface="Calibri" pitchFamily="34" charset="-122"/>
                <a:cs typeface="Calibri" pitchFamily="34" charset="-120"/>
              </a:rPr>
              <a:t>Both </a:t>
            </a:r>
            <a:r>
              <a:rPr lang="en-US" sz="1150" b="1" dirty="0">
                <a:solidFill>
                  <a:srgbClr val="1A1B2E"/>
                </a:solidFill>
                <a:latin typeface="Calibri" pitchFamily="34" charset="0"/>
                <a:ea typeface="Calibri" pitchFamily="34" charset="-122"/>
                <a:cs typeface="Calibri" pitchFamily="34" charset="-120"/>
              </a:rPr>
              <a:t>image-level</a:t>
            </a:r>
            <a:r>
              <a:rPr lang="en-US" sz="1150" dirty="0">
                <a:solidFill>
                  <a:srgbClr val="1A1B2E"/>
                </a:solidFill>
                <a:latin typeface="Calibri" pitchFamily="34" charset="0"/>
                <a:ea typeface="Calibri" pitchFamily="34" charset="-122"/>
                <a:cs typeface="Calibri" pitchFamily="34" charset="-120"/>
              </a:rPr>
              <a:t> and </a:t>
            </a:r>
            <a:r>
              <a:rPr lang="en-US" sz="1150" b="1" dirty="0">
                <a:solidFill>
                  <a:srgbClr val="1A1B2E"/>
                </a:solidFill>
                <a:latin typeface="Calibri" pitchFamily="34" charset="0"/>
                <a:ea typeface="Calibri" pitchFamily="34" charset="-122"/>
                <a:cs typeface="Calibri" pitchFamily="34" charset="-120"/>
              </a:rPr>
              <a:t>pixel-level</a:t>
            </a:r>
            <a:r>
              <a:rPr lang="en-US" sz="1150" dirty="0">
                <a:solidFill>
                  <a:srgbClr val="1A1B2E"/>
                </a:solidFill>
                <a:latin typeface="Calibri" pitchFamily="34" charset="0"/>
                <a:ea typeface="Calibri" pitchFamily="34" charset="-122"/>
                <a:cs typeface="Calibri" pitchFamily="34" charset="-120"/>
              </a:rPr>
              <a:t> metrics, evaluated across all 15 MVTec categories.</a:t>
            </a:r>
            <a:endParaRPr lang="en-US" sz="1150" dirty="0"/>
          </a:p>
        </p:txBody>
      </p:sp>
      <p:sp>
        <p:nvSpPr>
          <p:cNvPr id="12" name="Shape 10"/>
          <p:cNvSpPr/>
          <p:nvPr/>
        </p:nvSpPr>
        <p:spPr>
          <a:xfrm>
            <a:off x="740664" y="2240280"/>
            <a:ext cx="82296" cy="82296"/>
          </a:xfrm>
          <a:prstGeom prst="rect">
            <a:avLst/>
          </a:prstGeom>
          <a:solidFill>
            <a:srgbClr val="F4A261"/>
          </a:solidFill>
          <a:ln w="12700">
            <a:solidFill>
              <a:srgbClr val="F4A261"/>
            </a:solidFill>
            <a:prstDash val="solid"/>
          </a:ln>
        </p:spPr>
        <p:txBody>
          <a:bodyPr/>
          <a:lstStyle/>
          <a:p>
            <a:endParaRPr lang="en-US"/>
          </a:p>
        </p:txBody>
      </p:sp>
      <p:sp>
        <p:nvSpPr>
          <p:cNvPr id="13" name="Text 11"/>
          <p:cNvSpPr/>
          <p:nvPr/>
        </p:nvSpPr>
        <p:spPr>
          <a:xfrm>
            <a:off x="960120" y="2057400"/>
            <a:ext cx="3019769" cy="411480"/>
          </a:xfrm>
          <a:prstGeom prst="rect">
            <a:avLst/>
          </a:prstGeom>
          <a:noFill/>
          <a:ln/>
        </p:spPr>
        <p:txBody>
          <a:bodyPr wrap="square" lIns="0" tIns="0" rIns="0" bIns="0" rtlCol="0" anchor="ctr"/>
          <a:lstStyle/>
          <a:p>
            <a:pPr marL="0" indent="0">
              <a:buNone/>
            </a:pPr>
            <a:r>
              <a:rPr lang="en-US" sz="1050" b="1" dirty="0">
                <a:solidFill>
                  <a:srgbClr val="1A1B2E"/>
                </a:solidFill>
                <a:latin typeface="Calibri" pitchFamily="34" charset="0"/>
                <a:ea typeface="Calibri" pitchFamily="34" charset="-122"/>
                <a:cs typeface="Calibri" pitchFamily="34" charset="-120"/>
              </a:rPr>
              <a:t>Image-level AUROC</a:t>
            </a:r>
            <a:r>
              <a:rPr lang="en-US" sz="1050" dirty="0">
                <a:solidFill>
                  <a:srgbClr val="1A1B2E"/>
                </a:solidFill>
                <a:latin typeface="Calibri" pitchFamily="34" charset="0"/>
                <a:ea typeface="Calibri" pitchFamily="34" charset="-122"/>
                <a:cs typeface="Calibri" pitchFamily="34" charset="-120"/>
              </a:rPr>
              <a:t> - separates normal from anomalous images</a:t>
            </a:r>
            <a:endParaRPr lang="en-US" sz="1050" dirty="0"/>
          </a:p>
        </p:txBody>
      </p:sp>
      <p:sp>
        <p:nvSpPr>
          <p:cNvPr id="14" name="Shape 12"/>
          <p:cNvSpPr/>
          <p:nvPr/>
        </p:nvSpPr>
        <p:spPr>
          <a:xfrm>
            <a:off x="740664" y="2651760"/>
            <a:ext cx="82296" cy="82296"/>
          </a:xfrm>
          <a:prstGeom prst="rect">
            <a:avLst/>
          </a:prstGeom>
          <a:solidFill>
            <a:srgbClr val="F4A261"/>
          </a:solidFill>
          <a:ln w="12700">
            <a:solidFill>
              <a:srgbClr val="F4A261"/>
            </a:solidFill>
            <a:prstDash val="solid"/>
          </a:ln>
        </p:spPr>
        <p:txBody>
          <a:bodyPr/>
          <a:lstStyle/>
          <a:p>
            <a:endParaRPr lang="en-US"/>
          </a:p>
        </p:txBody>
      </p:sp>
      <p:sp>
        <p:nvSpPr>
          <p:cNvPr id="15" name="Text 13"/>
          <p:cNvSpPr/>
          <p:nvPr/>
        </p:nvSpPr>
        <p:spPr>
          <a:xfrm>
            <a:off x="960120" y="2468880"/>
            <a:ext cx="2615034" cy="411480"/>
          </a:xfrm>
          <a:prstGeom prst="rect">
            <a:avLst/>
          </a:prstGeom>
          <a:noFill/>
          <a:ln/>
        </p:spPr>
        <p:txBody>
          <a:bodyPr wrap="square" lIns="0" tIns="0" rIns="0" bIns="0" rtlCol="0" anchor="ctr"/>
          <a:lstStyle/>
          <a:p>
            <a:pPr marL="0" indent="0">
              <a:buNone/>
            </a:pPr>
            <a:r>
              <a:rPr lang="en-US" sz="1050" b="1" dirty="0">
                <a:solidFill>
                  <a:srgbClr val="1A1B2E"/>
                </a:solidFill>
                <a:latin typeface="Calibri" pitchFamily="34" charset="0"/>
                <a:ea typeface="Calibri" pitchFamily="34" charset="-122"/>
                <a:cs typeface="Calibri" pitchFamily="34" charset="-120"/>
              </a:rPr>
              <a:t>Pixel-level AUROC</a:t>
            </a:r>
            <a:r>
              <a:rPr lang="en-US" sz="1050" dirty="0">
                <a:solidFill>
                  <a:srgbClr val="1A1B2E"/>
                </a:solidFill>
                <a:latin typeface="Calibri" pitchFamily="34" charset="0"/>
                <a:ea typeface="Calibri" pitchFamily="34" charset="-122"/>
                <a:cs typeface="Calibri" pitchFamily="34" charset="-120"/>
              </a:rPr>
              <a:t> - measures alignment with defect regions</a:t>
            </a:r>
            <a:endParaRPr lang="en-US" sz="1050" dirty="0"/>
          </a:p>
        </p:txBody>
      </p:sp>
      <p:sp>
        <p:nvSpPr>
          <p:cNvPr id="16" name="Shape 14"/>
          <p:cNvSpPr/>
          <p:nvPr/>
        </p:nvSpPr>
        <p:spPr>
          <a:xfrm>
            <a:off x="740664" y="3063240"/>
            <a:ext cx="82296" cy="82296"/>
          </a:xfrm>
          <a:prstGeom prst="rect">
            <a:avLst/>
          </a:prstGeom>
          <a:solidFill>
            <a:srgbClr val="F4A261"/>
          </a:solidFill>
          <a:ln w="12700">
            <a:solidFill>
              <a:srgbClr val="F4A261"/>
            </a:solidFill>
            <a:prstDash val="solid"/>
          </a:ln>
        </p:spPr>
        <p:txBody>
          <a:bodyPr/>
          <a:lstStyle/>
          <a:p>
            <a:endParaRPr lang="en-US"/>
          </a:p>
        </p:txBody>
      </p:sp>
      <p:sp>
        <p:nvSpPr>
          <p:cNvPr id="17" name="Text 15"/>
          <p:cNvSpPr/>
          <p:nvPr/>
        </p:nvSpPr>
        <p:spPr>
          <a:xfrm>
            <a:off x="960120" y="2880360"/>
            <a:ext cx="3931920" cy="411480"/>
          </a:xfrm>
          <a:prstGeom prst="rect">
            <a:avLst/>
          </a:prstGeom>
          <a:noFill/>
          <a:ln/>
        </p:spPr>
        <p:txBody>
          <a:bodyPr wrap="square" lIns="0" tIns="0" rIns="0" bIns="0" rtlCol="0" anchor="ctr"/>
          <a:lstStyle/>
          <a:p>
            <a:pPr marL="0" indent="0">
              <a:buNone/>
            </a:pPr>
            <a:r>
              <a:rPr lang="en-US" sz="1050" b="1" dirty="0">
                <a:solidFill>
                  <a:srgbClr val="1A1B2E"/>
                </a:solidFill>
                <a:latin typeface="Calibri" pitchFamily="34" charset="0"/>
                <a:ea typeface="Calibri" pitchFamily="34" charset="-122"/>
                <a:cs typeface="Calibri" pitchFamily="34" charset="-120"/>
              </a:rPr>
              <a:t>Coverage</a:t>
            </a:r>
            <a:r>
              <a:rPr lang="en-US" sz="1050" dirty="0">
                <a:solidFill>
                  <a:srgbClr val="1A1B2E"/>
                </a:solidFill>
                <a:latin typeface="Calibri" pitchFamily="34" charset="0"/>
                <a:ea typeface="Calibri" pitchFamily="34" charset="-122"/>
                <a:cs typeface="Calibri" pitchFamily="34" charset="-120"/>
              </a:rPr>
              <a:t> - 15 MVTec categories</a:t>
            </a:r>
            <a:endParaRPr lang="en-US" sz="1050" dirty="0"/>
          </a:p>
        </p:txBody>
      </p:sp>
      <p:sp>
        <p:nvSpPr>
          <p:cNvPr id="18" name="Shape 16"/>
          <p:cNvSpPr/>
          <p:nvPr/>
        </p:nvSpPr>
        <p:spPr>
          <a:xfrm>
            <a:off x="685800" y="3584448"/>
            <a:ext cx="128016" cy="128016"/>
          </a:xfrm>
          <a:prstGeom prst="rect">
            <a:avLst/>
          </a:prstGeom>
          <a:solidFill>
            <a:srgbClr val="F4A261"/>
          </a:solidFill>
          <a:ln w="12700">
            <a:solidFill>
              <a:srgbClr val="F4A261"/>
            </a:solidFill>
            <a:prstDash val="solid"/>
          </a:ln>
        </p:spPr>
        <p:txBody>
          <a:bodyPr/>
          <a:lstStyle/>
          <a:p>
            <a:endParaRPr lang="en-US"/>
          </a:p>
        </p:txBody>
      </p:sp>
      <p:sp>
        <p:nvSpPr>
          <p:cNvPr id="19" name="Text 17"/>
          <p:cNvSpPr/>
          <p:nvPr/>
        </p:nvSpPr>
        <p:spPr>
          <a:xfrm>
            <a:off x="905256" y="352044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Ablations on</a:t>
            </a:r>
            <a:endParaRPr lang="en-US" sz="1300" dirty="0"/>
          </a:p>
        </p:txBody>
      </p:sp>
      <p:sp>
        <p:nvSpPr>
          <p:cNvPr id="20" name="Shape 18"/>
          <p:cNvSpPr/>
          <p:nvPr/>
        </p:nvSpPr>
        <p:spPr>
          <a:xfrm>
            <a:off x="740664" y="3954780"/>
            <a:ext cx="82296" cy="82296"/>
          </a:xfrm>
          <a:prstGeom prst="rect">
            <a:avLst/>
          </a:prstGeom>
          <a:solidFill>
            <a:srgbClr val="F4A261"/>
          </a:solidFill>
          <a:ln w="12700">
            <a:solidFill>
              <a:srgbClr val="F4A261"/>
            </a:solidFill>
            <a:prstDash val="solid"/>
          </a:ln>
        </p:spPr>
        <p:txBody>
          <a:bodyPr/>
          <a:lstStyle/>
          <a:p>
            <a:endParaRPr lang="en-US"/>
          </a:p>
        </p:txBody>
      </p:sp>
      <p:sp>
        <p:nvSpPr>
          <p:cNvPr id="21" name="Text 19"/>
          <p:cNvSpPr/>
          <p:nvPr/>
        </p:nvSpPr>
        <p:spPr>
          <a:xfrm>
            <a:off x="960120" y="3840480"/>
            <a:ext cx="2667500" cy="274320"/>
          </a:xfrm>
          <a:prstGeom prst="rect">
            <a:avLst/>
          </a:prstGeom>
          <a:noFill/>
          <a:ln/>
        </p:spPr>
        <p:txBody>
          <a:bodyPr wrap="square" lIns="0" tIns="0" rIns="0" bIns="0" rtlCol="0" anchor="ctr"/>
          <a:lstStyle/>
          <a:p>
            <a:pPr marL="0" indent="0">
              <a:buNone/>
            </a:pPr>
            <a:r>
              <a:rPr lang="en-US" sz="1050" dirty="0">
                <a:solidFill>
                  <a:srgbClr val="1A1B2E"/>
                </a:solidFill>
                <a:latin typeface="Calibri" pitchFamily="34" charset="0"/>
                <a:ea typeface="Calibri" pitchFamily="34" charset="-122"/>
                <a:cs typeface="Calibri" pitchFamily="34" charset="-120"/>
              </a:rPr>
              <a:t>Scoring method   |  Partial noise timestep   | Backbone comparison</a:t>
            </a:r>
            <a:endParaRPr lang="en-US" sz="1050" dirty="0"/>
          </a:p>
        </p:txBody>
      </p:sp>
      <p:pic>
        <p:nvPicPr>
          <p:cNvPr id="28" name="Picture 27">
            <a:extLst>
              <a:ext uri="{FF2B5EF4-FFF2-40B4-BE49-F238E27FC236}">
                <a16:creationId xmlns:a16="http://schemas.microsoft.com/office/drawing/2014/main" id="{6613BD43-D67F-9670-1F5A-21B6828FF634}"/>
              </a:ext>
            </a:extLst>
          </p:cNvPr>
          <p:cNvPicPr>
            <a:picLocks noChangeAspect="1"/>
          </p:cNvPicPr>
          <p:nvPr/>
        </p:nvPicPr>
        <p:blipFill>
          <a:blip r:embed="rId3"/>
          <a:stretch>
            <a:fillRect/>
          </a:stretch>
        </p:blipFill>
        <p:spPr>
          <a:xfrm>
            <a:off x="4117049" y="1313060"/>
            <a:ext cx="5026951" cy="1750180"/>
          </a:xfrm>
          <a:prstGeom prst="rect">
            <a:avLst/>
          </a:prstGeom>
        </p:spPr>
      </p:pic>
      <p:sp>
        <p:nvSpPr>
          <p:cNvPr id="29" name="Shape 7">
            <a:extLst>
              <a:ext uri="{FF2B5EF4-FFF2-40B4-BE49-F238E27FC236}">
                <a16:creationId xmlns:a16="http://schemas.microsoft.com/office/drawing/2014/main" id="{4AB38D9F-9826-3C60-7C39-7C07553EB38D}"/>
              </a:ext>
            </a:extLst>
          </p:cNvPr>
          <p:cNvSpPr/>
          <p:nvPr/>
        </p:nvSpPr>
        <p:spPr>
          <a:xfrm>
            <a:off x="4281041" y="3275838"/>
            <a:ext cx="4705561" cy="1522476"/>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r>
              <a:rPr lang="en-US" sz="1050" dirty="0" err="1">
                <a:solidFill>
                  <a:srgbClr val="1A1B2E"/>
                </a:solidFill>
                <a:latin typeface="Calibri" pitchFamily="34" charset="0"/>
                <a:cs typeface="Calibri" pitchFamily="34" charset="-120"/>
              </a:rPr>
              <a:t>DiT</a:t>
            </a:r>
            <a:r>
              <a:rPr lang="en-US" sz="1050" dirty="0">
                <a:solidFill>
                  <a:srgbClr val="1A1B2E"/>
                </a:solidFill>
                <a:latin typeface="Calibri" pitchFamily="34" charset="0"/>
                <a:cs typeface="Calibri" pitchFamily="34" charset="-120"/>
              </a:rPr>
              <a:t>-Tiny shows a consistent gap between image-level and pixel-level performance, suggesting it localizes defect regions better than it classifies entire images.</a:t>
            </a:r>
          </a:p>
          <a:p>
            <a:br>
              <a:rPr lang="en-US" sz="1050" dirty="0">
                <a:solidFill>
                  <a:srgbClr val="1A1B2E"/>
                </a:solidFill>
                <a:latin typeface="Calibri" pitchFamily="34" charset="0"/>
                <a:cs typeface="Calibri" pitchFamily="34" charset="-120"/>
              </a:rPr>
            </a:br>
            <a:r>
              <a:rPr lang="en-US" sz="1050" dirty="0">
                <a:solidFill>
                  <a:srgbClr val="1A1B2E"/>
                </a:solidFill>
                <a:latin typeface="Calibri" pitchFamily="34" charset="0"/>
                <a:cs typeface="Calibri" pitchFamily="34" charset="-120"/>
              </a:rPr>
              <a:t>Although </a:t>
            </a:r>
            <a:r>
              <a:rPr lang="en-US" sz="1050" dirty="0" err="1">
                <a:solidFill>
                  <a:srgbClr val="1A1B2E"/>
                </a:solidFill>
                <a:latin typeface="Calibri" pitchFamily="34" charset="0"/>
                <a:cs typeface="Calibri" pitchFamily="34" charset="-120"/>
              </a:rPr>
              <a:t>PatchCore</a:t>
            </a:r>
            <a:r>
              <a:rPr lang="en-US" sz="1050" dirty="0">
                <a:solidFill>
                  <a:srgbClr val="1A1B2E"/>
                </a:solidFill>
                <a:latin typeface="Calibri" pitchFamily="34" charset="0"/>
                <a:cs typeface="Calibri" pitchFamily="34" charset="-120"/>
              </a:rPr>
              <a:t> remains the strongest overall baseline, </a:t>
            </a:r>
            <a:r>
              <a:rPr lang="en-US" sz="1050" dirty="0" err="1">
                <a:solidFill>
                  <a:srgbClr val="1A1B2E"/>
                </a:solidFill>
                <a:latin typeface="Calibri" pitchFamily="34" charset="0"/>
                <a:cs typeface="Calibri" pitchFamily="34" charset="-120"/>
              </a:rPr>
              <a:t>DiT</a:t>
            </a:r>
            <a:r>
              <a:rPr lang="en-US" sz="1050" dirty="0">
                <a:solidFill>
                  <a:srgbClr val="1A1B2E"/>
                </a:solidFill>
                <a:latin typeface="Calibri" pitchFamily="34" charset="0"/>
                <a:cs typeface="Calibri" pitchFamily="34" charset="-120"/>
              </a:rPr>
              <a:t>-Tiny is relatively more competitive on texture-heavy categories such as hazelnut, leather, and wood.</a:t>
            </a:r>
          </a:p>
          <a:p>
            <a:endParaRPr lang="en-US" sz="1200" dirty="0"/>
          </a:p>
        </p:txBody>
      </p:sp>
      <p:sp>
        <p:nvSpPr>
          <p:cNvPr id="30" name="Shape 8">
            <a:extLst>
              <a:ext uri="{FF2B5EF4-FFF2-40B4-BE49-F238E27FC236}">
                <a16:creationId xmlns:a16="http://schemas.microsoft.com/office/drawing/2014/main" id="{60D7610B-4FAB-C417-B822-461226B43EA6}"/>
              </a:ext>
            </a:extLst>
          </p:cNvPr>
          <p:cNvSpPr/>
          <p:nvPr/>
        </p:nvSpPr>
        <p:spPr>
          <a:xfrm>
            <a:off x="4286737" y="3291840"/>
            <a:ext cx="49168" cy="1463040"/>
          </a:xfrm>
          <a:prstGeom prst="rect">
            <a:avLst/>
          </a:prstGeom>
          <a:solidFill>
            <a:srgbClr val="F4A261"/>
          </a:solidFill>
          <a:ln w="12700">
            <a:solidFill>
              <a:srgbClr val="F4A261"/>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RESULTS</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Qualitative Examples</a:t>
            </a:r>
            <a:endParaRPr lang="en-US" sz="2200" dirty="0"/>
          </a:p>
        </p:txBody>
      </p:sp>
      <p:sp>
        <p:nvSpPr>
          <p:cNvPr id="17" name="Text 15"/>
          <p:cNvSpPr/>
          <p:nvPr/>
        </p:nvSpPr>
        <p:spPr>
          <a:xfrm>
            <a:off x="457200" y="3396371"/>
            <a:ext cx="4114800" cy="274320"/>
          </a:xfrm>
          <a:prstGeom prst="rect">
            <a:avLst/>
          </a:prstGeom>
          <a:noFill/>
          <a:ln/>
        </p:spPr>
        <p:txBody>
          <a:bodyPr wrap="square" lIns="0" tIns="0" rIns="0" bIns="0" rtlCol="0" anchor="ctr"/>
          <a:lstStyle/>
          <a:p>
            <a:pPr marL="0" indent="0" algn="ctr">
              <a:buNone/>
            </a:pPr>
            <a:r>
              <a:rPr lang="en-US" sz="1100" b="1" dirty="0">
                <a:solidFill>
                  <a:srgbClr val="1E2761"/>
                </a:solidFill>
                <a:latin typeface="Georgia" pitchFamily="34" charset="0"/>
                <a:ea typeface="Georgia" pitchFamily="34" charset="-122"/>
                <a:cs typeface="Georgia" pitchFamily="34" charset="-120"/>
              </a:rPr>
              <a:t>Anomalous hazelnut sample</a:t>
            </a:r>
            <a:endParaRPr lang="en-US" sz="1100" dirty="0"/>
          </a:p>
        </p:txBody>
      </p:sp>
      <p:sp>
        <p:nvSpPr>
          <p:cNvPr id="18" name="Text 16"/>
          <p:cNvSpPr/>
          <p:nvPr/>
        </p:nvSpPr>
        <p:spPr>
          <a:xfrm>
            <a:off x="4517136" y="3374136"/>
            <a:ext cx="4114800" cy="274320"/>
          </a:xfrm>
          <a:prstGeom prst="rect">
            <a:avLst/>
          </a:prstGeom>
          <a:noFill/>
          <a:ln/>
        </p:spPr>
        <p:txBody>
          <a:bodyPr wrap="square" lIns="0" tIns="0" rIns="0" bIns="0" rtlCol="0" anchor="ctr"/>
          <a:lstStyle/>
          <a:p>
            <a:pPr marL="0" indent="0" algn="ctr">
              <a:buNone/>
            </a:pPr>
            <a:r>
              <a:rPr lang="en-US" sz="1100" b="1" dirty="0">
                <a:solidFill>
                  <a:srgbClr val="1E2761"/>
                </a:solidFill>
                <a:latin typeface="Georgia" pitchFamily="34" charset="0"/>
                <a:ea typeface="Georgia" pitchFamily="34" charset="-122"/>
                <a:cs typeface="Georgia" pitchFamily="34" charset="-120"/>
              </a:rPr>
              <a:t>Normal hazelnut sample</a:t>
            </a:r>
            <a:endParaRPr lang="en-US" sz="1100" dirty="0"/>
          </a:p>
        </p:txBody>
      </p:sp>
      <p:sp>
        <p:nvSpPr>
          <p:cNvPr id="19" name="Shape 17"/>
          <p:cNvSpPr/>
          <p:nvPr/>
        </p:nvSpPr>
        <p:spPr>
          <a:xfrm>
            <a:off x="457200" y="3692926"/>
            <a:ext cx="8229600" cy="1061954"/>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dirty="0"/>
          </a:p>
        </p:txBody>
      </p:sp>
      <p:sp>
        <p:nvSpPr>
          <p:cNvPr id="20" name="Shape 18"/>
          <p:cNvSpPr/>
          <p:nvPr/>
        </p:nvSpPr>
        <p:spPr>
          <a:xfrm>
            <a:off x="466344" y="3692926"/>
            <a:ext cx="45719" cy="1061954"/>
          </a:xfrm>
          <a:prstGeom prst="rect">
            <a:avLst/>
          </a:prstGeom>
          <a:solidFill>
            <a:srgbClr val="F4A261"/>
          </a:solidFill>
          <a:ln w="12700">
            <a:solidFill>
              <a:srgbClr val="F4A261"/>
            </a:solidFill>
            <a:prstDash val="solid"/>
          </a:ln>
        </p:spPr>
        <p:txBody>
          <a:bodyPr/>
          <a:lstStyle/>
          <a:p>
            <a:endParaRPr lang="en-US"/>
          </a:p>
        </p:txBody>
      </p:sp>
      <p:sp>
        <p:nvSpPr>
          <p:cNvPr id="21" name="Shape 19"/>
          <p:cNvSpPr/>
          <p:nvPr/>
        </p:nvSpPr>
        <p:spPr>
          <a:xfrm>
            <a:off x="715344" y="3855024"/>
            <a:ext cx="82296" cy="82296"/>
          </a:xfrm>
          <a:prstGeom prst="rect">
            <a:avLst/>
          </a:prstGeom>
          <a:solidFill>
            <a:srgbClr val="F4A261"/>
          </a:solidFill>
          <a:ln w="12700">
            <a:solidFill>
              <a:srgbClr val="F4A261"/>
            </a:solidFill>
            <a:prstDash val="solid"/>
          </a:ln>
        </p:spPr>
        <p:txBody>
          <a:bodyPr/>
          <a:lstStyle/>
          <a:p>
            <a:endParaRPr lang="en-US"/>
          </a:p>
        </p:txBody>
      </p:sp>
      <p:sp>
        <p:nvSpPr>
          <p:cNvPr id="22" name="Text 20"/>
          <p:cNvSpPr/>
          <p:nvPr/>
        </p:nvSpPr>
        <p:spPr>
          <a:xfrm>
            <a:off x="960120" y="3771900"/>
            <a:ext cx="7589520" cy="502920"/>
          </a:xfrm>
          <a:prstGeom prst="rect">
            <a:avLst/>
          </a:prstGeom>
          <a:noFill/>
          <a:ln/>
        </p:spPr>
        <p:txBody>
          <a:bodyPr wrap="square" lIns="0" tIns="0" rIns="0" bIns="0" rtlCol="0" anchor="ctr"/>
          <a:lstStyle/>
          <a:p>
            <a:r>
              <a:rPr lang="en-US" sz="1050" dirty="0">
                <a:solidFill>
                  <a:srgbClr val="1A1B2E"/>
                </a:solidFill>
                <a:latin typeface="Calibri" pitchFamily="34" charset="0"/>
                <a:cs typeface="Calibri" pitchFamily="34" charset="-120"/>
              </a:rPr>
              <a:t>Anomalous samples produce stronger reconstruction-based anomaly responses, with highlighted regions aligning well with the ground-truth mask. Normal samples show weaker responses and lower false positives.</a:t>
            </a:r>
          </a:p>
          <a:p>
            <a:endParaRPr lang="en-US" sz="1050" dirty="0">
              <a:solidFill>
                <a:srgbClr val="1A1B2E"/>
              </a:solidFill>
              <a:latin typeface="Calibri" pitchFamily="34" charset="0"/>
              <a:cs typeface="Calibri" pitchFamily="34" charset="-120"/>
            </a:endParaRPr>
          </a:p>
        </p:txBody>
      </p:sp>
      <p:pic>
        <p:nvPicPr>
          <p:cNvPr id="25" name="Picture 24">
            <a:extLst>
              <a:ext uri="{FF2B5EF4-FFF2-40B4-BE49-F238E27FC236}">
                <a16:creationId xmlns:a16="http://schemas.microsoft.com/office/drawing/2014/main" id="{C1CB4C87-ACF3-AB12-BA63-E25D5D0B43F2}"/>
              </a:ext>
            </a:extLst>
          </p:cNvPr>
          <p:cNvPicPr>
            <a:picLocks noChangeAspect="1"/>
          </p:cNvPicPr>
          <p:nvPr/>
        </p:nvPicPr>
        <p:blipFill>
          <a:blip r:embed="rId3"/>
          <a:stretch>
            <a:fillRect/>
          </a:stretch>
        </p:blipFill>
        <p:spPr>
          <a:xfrm>
            <a:off x="322386" y="960120"/>
            <a:ext cx="4021014" cy="2445395"/>
          </a:xfrm>
          <a:prstGeom prst="rect">
            <a:avLst/>
          </a:prstGeom>
        </p:spPr>
      </p:pic>
      <p:pic>
        <p:nvPicPr>
          <p:cNvPr id="27" name="Picture 26">
            <a:extLst>
              <a:ext uri="{FF2B5EF4-FFF2-40B4-BE49-F238E27FC236}">
                <a16:creationId xmlns:a16="http://schemas.microsoft.com/office/drawing/2014/main" id="{DD6D5A84-180F-8D63-8CC0-BC0C9E459426}"/>
              </a:ext>
            </a:extLst>
          </p:cNvPr>
          <p:cNvPicPr>
            <a:picLocks noChangeAspect="1"/>
          </p:cNvPicPr>
          <p:nvPr/>
        </p:nvPicPr>
        <p:blipFill>
          <a:blip r:embed="rId4"/>
          <a:stretch>
            <a:fillRect/>
          </a:stretch>
        </p:blipFill>
        <p:spPr>
          <a:xfrm>
            <a:off x="4599432" y="950976"/>
            <a:ext cx="3950208" cy="2445395"/>
          </a:xfrm>
          <a:prstGeom prst="rect">
            <a:avLst/>
          </a:prstGeom>
        </p:spPr>
      </p:pic>
      <p:sp>
        <p:nvSpPr>
          <p:cNvPr id="9" name="TextBox 8">
            <a:extLst>
              <a:ext uri="{FF2B5EF4-FFF2-40B4-BE49-F238E27FC236}">
                <a16:creationId xmlns:a16="http://schemas.microsoft.com/office/drawing/2014/main" id="{40A2D9DF-D2CD-E1A5-5AED-508A0B06AA4F}"/>
              </a:ext>
            </a:extLst>
          </p:cNvPr>
          <p:cNvSpPr txBox="1"/>
          <p:nvPr/>
        </p:nvSpPr>
        <p:spPr>
          <a:xfrm>
            <a:off x="912322" y="4192524"/>
            <a:ext cx="7248698" cy="630942"/>
          </a:xfrm>
          <a:prstGeom prst="rect">
            <a:avLst/>
          </a:prstGeom>
          <a:noFill/>
        </p:spPr>
        <p:txBody>
          <a:bodyPr wrap="square" rtlCol="0">
            <a:spAutoFit/>
          </a:bodyPr>
          <a:lstStyle/>
          <a:p>
            <a:r>
              <a:rPr lang="en-US" sz="1050" dirty="0">
                <a:solidFill>
                  <a:srgbClr val="1A1B2E"/>
                </a:solidFill>
                <a:latin typeface="Calibri" pitchFamily="34" charset="0"/>
                <a:cs typeface="Calibri" pitchFamily="34" charset="-120"/>
              </a:rPr>
              <a:t>Input is the original image, reconstruction is the model’s normal version, the anomaly map highlights suspicious regions, the overlay shows them on the image, and the GT mask is the true defect area for visual comparison.</a:t>
            </a:r>
          </a:p>
          <a:p>
            <a:endParaRPr lang="en-US" dirty="0"/>
          </a:p>
        </p:txBody>
      </p:sp>
      <p:sp>
        <p:nvSpPr>
          <p:cNvPr id="10" name="Shape 19">
            <a:extLst>
              <a:ext uri="{FF2B5EF4-FFF2-40B4-BE49-F238E27FC236}">
                <a16:creationId xmlns:a16="http://schemas.microsoft.com/office/drawing/2014/main" id="{16EC84D7-32F1-8BFD-6D20-C9484E2A6107}"/>
              </a:ext>
            </a:extLst>
          </p:cNvPr>
          <p:cNvSpPr/>
          <p:nvPr/>
        </p:nvSpPr>
        <p:spPr>
          <a:xfrm>
            <a:off x="700002" y="4270666"/>
            <a:ext cx="122958" cy="82296"/>
          </a:xfrm>
          <a:prstGeom prst="rect">
            <a:avLst/>
          </a:prstGeom>
          <a:solidFill>
            <a:srgbClr val="F4A261"/>
          </a:solidFill>
          <a:ln w="12700">
            <a:solidFill>
              <a:srgbClr val="F4A261"/>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RESULTS</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Quantitative Performance</a:t>
            </a:r>
            <a:endParaRPr lang="en-US" sz="2200" dirty="0"/>
          </a:p>
        </p:txBody>
      </p:sp>
      <p:sp>
        <p:nvSpPr>
          <p:cNvPr id="9" name="Shape 7"/>
          <p:cNvSpPr/>
          <p:nvPr/>
        </p:nvSpPr>
        <p:spPr>
          <a:xfrm>
            <a:off x="457200" y="1188720"/>
            <a:ext cx="2240280" cy="141732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457200" y="1188720"/>
            <a:ext cx="54864" cy="1417320"/>
          </a:xfrm>
          <a:prstGeom prst="rect">
            <a:avLst/>
          </a:prstGeom>
          <a:solidFill>
            <a:srgbClr val="F4A261"/>
          </a:solidFill>
          <a:ln w="12700">
            <a:solidFill>
              <a:srgbClr val="F4A261"/>
            </a:solidFill>
            <a:prstDash val="solid"/>
          </a:ln>
        </p:spPr>
        <p:txBody>
          <a:bodyPr/>
          <a:lstStyle/>
          <a:p>
            <a:endParaRPr lang="en-US"/>
          </a:p>
        </p:txBody>
      </p:sp>
      <p:sp>
        <p:nvSpPr>
          <p:cNvPr id="11" name="Text 9"/>
          <p:cNvSpPr/>
          <p:nvPr/>
        </p:nvSpPr>
        <p:spPr>
          <a:xfrm>
            <a:off x="640080" y="1325880"/>
            <a:ext cx="1920240" cy="694944"/>
          </a:xfrm>
          <a:prstGeom prst="rect">
            <a:avLst/>
          </a:prstGeom>
          <a:noFill/>
          <a:ln/>
        </p:spPr>
        <p:txBody>
          <a:bodyPr wrap="square" lIns="0" tIns="0" rIns="0" bIns="0" rtlCol="0" anchor="b"/>
          <a:lstStyle/>
          <a:p>
            <a:pPr marL="0" indent="0" algn="l">
              <a:buNone/>
            </a:pPr>
            <a:r>
              <a:rPr lang="en-US" sz="4400" b="1" dirty="0">
                <a:solidFill>
                  <a:srgbClr val="1E2761"/>
                </a:solidFill>
                <a:latin typeface="Georgia" pitchFamily="34" charset="0"/>
                <a:ea typeface="Georgia" pitchFamily="34" charset="-122"/>
                <a:cs typeface="Georgia" pitchFamily="34" charset="-120"/>
              </a:rPr>
              <a:t>0.573</a:t>
            </a:r>
            <a:endParaRPr lang="en-US" sz="4400" dirty="0"/>
          </a:p>
        </p:txBody>
      </p:sp>
      <p:sp>
        <p:nvSpPr>
          <p:cNvPr id="12" name="Text 10"/>
          <p:cNvSpPr/>
          <p:nvPr/>
        </p:nvSpPr>
        <p:spPr>
          <a:xfrm>
            <a:off x="640080" y="2103120"/>
            <a:ext cx="1920240" cy="320040"/>
          </a:xfrm>
          <a:prstGeom prst="rect">
            <a:avLst/>
          </a:prstGeom>
          <a:noFill/>
          <a:ln/>
        </p:spPr>
        <p:txBody>
          <a:bodyPr wrap="square" lIns="0" tIns="0" rIns="0" bIns="0" rtlCol="0" anchor="t"/>
          <a:lstStyle/>
          <a:p>
            <a:pPr marL="0" indent="0" algn="l">
              <a:buNone/>
            </a:pPr>
            <a:r>
              <a:rPr lang="en-US" sz="1100" dirty="0">
                <a:solidFill>
                  <a:srgbClr val="5A5F7A"/>
                </a:solidFill>
                <a:latin typeface="Calibri" pitchFamily="34" charset="0"/>
                <a:ea typeface="Calibri" pitchFamily="34" charset="-122"/>
                <a:cs typeface="Calibri" pitchFamily="34" charset="-120"/>
              </a:rPr>
              <a:t>Mean image-level AUROC</a:t>
            </a:r>
            <a:endParaRPr lang="en-US" sz="1100" dirty="0"/>
          </a:p>
        </p:txBody>
      </p:sp>
      <p:sp>
        <p:nvSpPr>
          <p:cNvPr id="13" name="Shape 11"/>
          <p:cNvSpPr/>
          <p:nvPr/>
        </p:nvSpPr>
        <p:spPr>
          <a:xfrm>
            <a:off x="2788920" y="1188720"/>
            <a:ext cx="2240280" cy="141732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4" name="Shape 12"/>
          <p:cNvSpPr/>
          <p:nvPr/>
        </p:nvSpPr>
        <p:spPr>
          <a:xfrm>
            <a:off x="2788920" y="1188720"/>
            <a:ext cx="54864" cy="1417320"/>
          </a:xfrm>
          <a:prstGeom prst="rect">
            <a:avLst/>
          </a:prstGeom>
          <a:solidFill>
            <a:srgbClr val="1E2761"/>
          </a:solidFill>
          <a:ln w="12700">
            <a:solidFill>
              <a:srgbClr val="1E2761"/>
            </a:solidFill>
            <a:prstDash val="solid"/>
          </a:ln>
        </p:spPr>
        <p:txBody>
          <a:bodyPr/>
          <a:lstStyle/>
          <a:p>
            <a:endParaRPr lang="en-US"/>
          </a:p>
        </p:txBody>
      </p:sp>
      <p:sp>
        <p:nvSpPr>
          <p:cNvPr id="15" name="Text 13"/>
          <p:cNvSpPr/>
          <p:nvPr/>
        </p:nvSpPr>
        <p:spPr>
          <a:xfrm>
            <a:off x="2971800" y="1325880"/>
            <a:ext cx="1920240" cy="777240"/>
          </a:xfrm>
          <a:prstGeom prst="rect">
            <a:avLst/>
          </a:prstGeom>
          <a:noFill/>
          <a:ln/>
        </p:spPr>
        <p:txBody>
          <a:bodyPr wrap="square" lIns="0" tIns="0" rIns="0" bIns="0" rtlCol="0" anchor="b"/>
          <a:lstStyle/>
          <a:p>
            <a:pPr marL="0" indent="0" algn="l">
              <a:buNone/>
            </a:pPr>
            <a:r>
              <a:rPr lang="en-US" sz="4400" b="1" dirty="0">
                <a:solidFill>
                  <a:srgbClr val="1E2761"/>
                </a:solidFill>
                <a:latin typeface="Georgia" pitchFamily="34" charset="0"/>
                <a:ea typeface="Georgia" pitchFamily="34" charset="-122"/>
                <a:cs typeface="Georgia" pitchFamily="34" charset="-120"/>
              </a:rPr>
              <a:t>0.759</a:t>
            </a:r>
            <a:endParaRPr lang="en-US" sz="4400" dirty="0"/>
          </a:p>
        </p:txBody>
      </p:sp>
      <p:sp>
        <p:nvSpPr>
          <p:cNvPr id="16" name="Text 14"/>
          <p:cNvSpPr/>
          <p:nvPr/>
        </p:nvSpPr>
        <p:spPr>
          <a:xfrm>
            <a:off x="2971800" y="2103120"/>
            <a:ext cx="1920240" cy="320040"/>
          </a:xfrm>
          <a:prstGeom prst="rect">
            <a:avLst/>
          </a:prstGeom>
          <a:noFill/>
          <a:ln/>
        </p:spPr>
        <p:txBody>
          <a:bodyPr wrap="square" lIns="0" tIns="0" rIns="0" bIns="0" rtlCol="0" anchor="t"/>
          <a:lstStyle/>
          <a:p>
            <a:pPr marL="0" indent="0" algn="l">
              <a:buNone/>
            </a:pPr>
            <a:r>
              <a:rPr lang="en-US" sz="1100" dirty="0">
                <a:solidFill>
                  <a:srgbClr val="5A5F7A"/>
                </a:solidFill>
                <a:latin typeface="Calibri" pitchFamily="34" charset="0"/>
                <a:ea typeface="Calibri" pitchFamily="34" charset="-122"/>
                <a:cs typeface="Calibri" pitchFamily="34" charset="-120"/>
              </a:rPr>
              <a:t>Mean pixel-level AUROC</a:t>
            </a:r>
            <a:endParaRPr lang="en-US" sz="1100" dirty="0"/>
          </a:p>
        </p:txBody>
      </p:sp>
      <p:sp>
        <p:nvSpPr>
          <p:cNvPr id="17" name="Shape 15"/>
          <p:cNvSpPr/>
          <p:nvPr/>
        </p:nvSpPr>
        <p:spPr>
          <a:xfrm>
            <a:off x="457200" y="2788920"/>
            <a:ext cx="4572000" cy="192024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8" name="Shape 16"/>
          <p:cNvSpPr/>
          <p:nvPr/>
        </p:nvSpPr>
        <p:spPr>
          <a:xfrm>
            <a:off x="457200" y="2788920"/>
            <a:ext cx="54864" cy="1920240"/>
          </a:xfrm>
          <a:prstGeom prst="rect">
            <a:avLst/>
          </a:prstGeom>
          <a:solidFill>
            <a:srgbClr val="F4A261"/>
          </a:solidFill>
          <a:ln w="12700">
            <a:solidFill>
              <a:srgbClr val="F4A261"/>
            </a:solidFill>
            <a:prstDash val="solid"/>
          </a:ln>
        </p:spPr>
        <p:txBody>
          <a:bodyPr/>
          <a:lstStyle/>
          <a:p>
            <a:endParaRPr lang="en-US"/>
          </a:p>
        </p:txBody>
      </p:sp>
      <p:sp>
        <p:nvSpPr>
          <p:cNvPr id="19" name="Shape 17"/>
          <p:cNvSpPr/>
          <p:nvPr/>
        </p:nvSpPr>
        <p:spPr>
          <a:xfrm>
            <a:off x="685800" y="2990088"/>
            <a:ext cx="128016" cy="128016"/>
          </a:xfrm>
          <a:prstGeom prst="rect">
            <a:avLst/>
          </a:prstGeom>
          <a:solidFill>
            <a:srgbClr val="F4A261"/>
          </a:solidFill>
          <a:ln w="12700">
            <a:solidFill>
              <a:srgbClr val="F4A261"/>
            </a:solidFill>
            <a:prstDash val="solid"/>
          </a:ln>
        </p:spPr>
        <p:txBody>
          <a:bodyPr/>
          <a:lstStyle/>
          <a:p>
            <a:endParaRPr lang="en-US"/>
          </a:p>
        </p:txBody>
      </p:sp>
      <p:sp>
        <p:nvSpPr>
          <p:cNvPr id="20" name="Text 18"/>
          <p:cNvSpPr/>
          <p:nvPr/>
        </p:nvSpPr>
        <p:spPr>
          <a:xfrm>
            <a:off x="905256" y="292608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Key observations</a:t>
            </a:r>
            <a:endParaRPr lang="en-US" sz="1300" dirty="0"/>
          </a:p>
        </p:txBody>
      </p:sp>
      <p:sp>
        <p:nvSpPr>
          <p:cNvPr id="21" name="Shape 19"/>
          <p:cNvSpPr/>
          <p:nvPr/>
        </p:nvSpPr>
        <p:spPr>
          <a:xfrm>
            <a:off x="740664" y="3369564"/>
            <a:ext cx="82296" cy="82296"/>
          </a:xfrm>
          <a:prstGeom prst="rect">
            <a:avLst/>
          </a:prstGeom>
          <a:solidFill>
            <a:srgbClr val="F4A261"/>
          </a:solidFill>
          <a:ln w="12700">
            <a:solidFill>
              <a:srgbClr val="F4A261"/>
            </a:solidFill>
            <a:prstDash val="solid"/>
          </a:ln>
        </p:spPr>
        <p:txBody>
          <a:bodyPr/>
          <a:lstStyle/>
          <a:p>
            <a:endParaRPr lang="en-US"/>
          </a:p>
        </p:txBody>
      </p:sp>
      <p:sp>
        <p:nvSpPr>
          <p:cNvPr id="22" name="Text 20"/>
          <p:cNvSpPr/>
          <p:nvPr/>
        </p:nvSpPr>
        <p:spPr>
          <a:xfrm>
            <a:off x="960120" y="3246120"/>
            <a:ext cx="3931920" cy="292608"/>
          </a:xfrm>
          <a:prstGeom prst="rect">
            <a:avLst/>
          </a:prstGeom>
          <a:noFill/>
          <a:ln/>
        </p:spPr>
        <p:txBody>
          <a:bodyPr wrap="square" lIns="0" tIns="0" rIns="0" bIns="0" rtlCol="0" anchor="ctr"/>
          <a:lstStyle/>
          <a:p>
            <a:pPr marL="0" indent="0">
              <a:buNone/>
            </a:pPr>
            <a:r>
              <a:rPr lang="en-US" sz="1000" dirty="0">
                <a:solidFill>
                  <a:srgbClr val="1A1B2E"/>
                </a:solidFill>
                <a:latin typeface="Calibri" pitchFamily="34" charset="0"/>
                <a:ea typeface="Calibri" pitchFamily="34" charset="-122"/>
                <a:cs typeface="Calibri" pitchFamily="34" charset="-120"/>
              </a:rPr>
              <a:t>Strongest on texture-heavy categories: hazelnut, wood, leather</a:t>
            </a:r>
            <a:endParaRPr lang="en-US" sz="1000" dirty="0"/>
          </a:p>
        </p:txBody>
      </p:sp>
      <p:sp>
        <p:nvSpPr>
          <p:cNvPr id="23" name="Shape 21"/>
          <p:cNvSpPr/>
          <p:nvPr/>
        </p:nvSpPr>
        <p:spPr>
          <a:xfrm>
            <a:off x="740664" y="3662172"/>
            <a:ext cx="82296" cy="82296"/>
          </a:xfrm>
          <a:prstGeom prst="rect">
            <a:avLst/>
          </a:prstGeom>
          <a:solidFill>
            <a:srgbClr val="F4A261"/>
          </a:solidFill>
          <a:ln w="12700">
            <a:solidFill>
              <a:srgbClr val="F4A261"/>
            </a:solidFill>
            <a:prstDash val="solid"/>
          </a:ln>
        </p:spPr>
        <p:txBody>
          <a:bodyPr/>
          <a:lstStyle/>
          <a:p>
            <a:endParaRPr lang="en-US"/>
          </a:p>
        </p:txBody>
      </p:sp>
      <p:sp>
        <p:nvSpPr>
          <p:cNvPr id="24" name="Text 22"/>
          <p:cNvSpPr/>
          <p:nvPr/>
        </p:nvSpPr>
        <p:spPr>
          <a:xfrm>
            <a:off x="960120" y="3538728"/>
            <a:ext cx="3931920" cy="292608"/>
          </a:xfrm>
          <a:prstGeom prst="rect">
            <a:avLst/>
          </a:prstGeom>
          <a:noFill/>
          <a:ln/>
        </p:spPr>
        <p:txBody>
          <a:bodyPr wrap="square" lIns="0" tIns="0" rIns="0" bIns="0" rtlCol="0" anchor="ctr"/>
          <a:lstStyle/>
          <a:p>
            <a:pPr marL="0" indent="0">
              <a:buNone/>
            </a:pPr>
            <a:r>
              <a:rPr lang="en-US" sz="1000" dirty="0">
                <a:solidFill>
                  <a:srgbClr val="1A1B2E"/>
                </a:solidFill>
                <a:latin typeface="Calibri" pitchFamily="34" charset="0"/>
                <a:ea typeface="Calibri" pitchFamily="34" charset="-122"/>
                <a:cs typeface="Calibri" pitchFamily="34" charset="-120"/>
              </a:rPr>
              <a:t>Weaker on more structurally complex categories</a:t>
            </a:r>
            <a:endParaRPr lang="en-US" sz="1000" dirty="0"/>
          </a:p>
        </p:txBody>
      </p:sp>
      <p:sp>
        <p:nvSpPr>
          <p:cNvPr id="25" name="Shape 23"/>
          <p:cNvSpPr/>
          <p:nvPr/>
        </p:nvSpPr>
        <p:spPr>
          <a:xfrm>
            <a:off x="740664" y="3954780"/>
            <a:ext cx="82296" cy="82296"/>
          </a:xfrm>
          <a:prstGeom prst="rect">
            <a:avLst/>
          </a:prstGeom>
          <a:solidFill>
            <a:srgbClr val="F4A261"/>
          </a:solidFill>
          <a:ln w="12700">
            <a:solidFill>
              <a:srgbClr val="F4A261"/>
            </a:solidFill>
            <a:prstDash val="solid"/>
          </a:ln>
        </p:spPr>
        <p:txBody>
          <a:bodyPr/>
          <a:lstStyle/>
          <a:p>
            <a:endParaRPr lang="en-US"/>
          </a:p>
        </p:txBody>
      </p:sp>
      <p:sp>
        <p:nvSpPr>
          <p:cNvPr id="26" name="Text 24"/>
          <p:cNvSpPr/>
          <p:nvPr/>
        </p:nvSpPr>
        <p:spPr>
          <a:xfrm>
            <a:off x="960120" y="3831336"/>
            <a:ext cx="3931920" cy="292608"/>
          </a:xfrm>
          <a:prstGeom prst="rect">
            <a:avLst/>
          </a:prstGeom>
          <a:noFill/>
          <a:ln/>
        </p:spPr>
        <p:txBody>
          <a:bodyPr wrap="square" lIns="0" tIns="0" rIns="0" bIns="0" rtlCol="0" anchor="ctr"/>
          <a:lstStyle/>
          <a:p>
            <a:pPr marL="0" indent="0">
              <a:buNone/>
            </a:pPr>
            <a:r>
              <a:rPr lang="en-US" sz="1000" dirty="0">
                <a:solidFill>
                  <a:srgbClr val="1A1B2E"/>
                </a:solidFill>
                <a:latin typeface="Calibri" pitchFamily="34" charset="0"/>
                <a:ea typeface="Calibri" pitchFamily="34" charset="-122"/>
                <a:cs typeface="Calibri" pitchFamily="34" charset="-120"/>
              </a:rPr>
              <a:t>PatchCore stronger overall, but uses pretrained ImageNet features</a:t>
            </a:r>
            <a:endParaRPr lang="en-US" sz="1000" dirty="0"/>
          </a:p>
        </p:txBody>
      </p:sp>
      <p:sp>
        <p:nvSpPr>
          <p:cNvPr id="27" name="Shape 25"/>
          <p:cNvSpPr/>
          <p:nvPr/>
        </p:nvSpPr>
        <p:spPr>
          <a:xfrm>
            <a:off x="740664" y="4247388"/>
            <a:ext cx="82296" cy="82296"/>
          </a:xfrm>
          <a:prstGeom prst="rect">
            <a:avLst/>
          </a:prstGeom>
          <a:solidFill>
            <a:srgbClr val="F4A261"/>
          </a:solidFill>
          <a:ln w="12700">
            <a:solidFill>
              <a:srgbClr val="F4A261"/>
            </a:solidFill>
            <a:prstDash val="solid"/>
          </a:ln>
        </p:spPr>
        <p:txBody>
          <a:bodyPr/>
          <a:lstStyle/>
          <a:p>
            <a:endParaRPr lang="en-US"/>
          </a:p>
        </p:txBody>
      </p:sp>
      <p:sp>
        <p:nvSpPr>
          <p:cNvPr id="28" name="Text 26"/>
          <p:cNvSpPr/>
          <p:nvPr/>
        </p:nvSpPr>
        <p:spPr>
          <a:xfrm>
            <a:off x="960120" y="4123944"/>
            <a:ext cx="3931920" cy="292608"/>
          </a:xfrm>
          <a:prstGeom prst="rect">
            <a:avLst/>
          </a:prstGeom>
          <a:noFill/>
          <a:ln/>
        </p:spPr>
        <p:txBody>
          <a:bodyPr wrap="square" lIns="0" tIns="0" rIns="0" bIns="0" rtlCol="0" anchor="ctr"/>
          <a:lstStyle/>
          <a:p>
            <a:pPr marL="0" indent="0">
              <a:buNone/>
            </a:pPr>
            <a:r>
              <a:rPr lang="en-US" sz="1000" dirty="0">
                <a:solidFill>
                  <a:srgbClr val="1A1B2E"/>
                </a:solidFill>
                <a:latin typeface="Calibri" pitchFamily="34" charset="0"/>
                <a:ea typeface="Calibri" pitchFamily="34" charset="-122"/>
                <a:cs typeface="Calibri" pitchFamily="34" charset="-120"/>
              </a:rPr>
              <a:t>model is trained from scratch on normal-only data</a:t>
            </a:r>
            <a:endParaRPr lang="en-US" sz="1000" dirty="0"/>
          </a:p>
        </p:txBody>
      </p:sp>
      <p:pic>
        <p:nvPicPr>
          <p:cNvPr id="36" name="Picture 35">
            <a:extLst>
              <a:ext uri="{FF2B5EF4-FFF2-40B4-BE49-F238E27FC236}">
                <a16:creationId xmlns:a16="http://schemas.microsoft.com/office/drawing/2014/main" id="{1E6245CD-94A3-B4A3-B289-1C7B19B64E6F}"/>
              </a:ext>
            </a:extLst>
          </p:cNvPr>
          <p:cNvPicPr>
            <a:picLocks noChangeAspect="1"/>
          </p:cNvPicPr>
          <p:nvPr/>
        </p:nvPicPr>
        <p:blipFill>
          <a:blip r:embed="rId3"/>
          <a:stretch>
            <a:fillRect/>
          </a:stretch>
        </p:blipFill>
        <p:spPr>
          <a:xfrm>
            <a:off x="4983481" y="1109304"/>
            <a:ext cx="3931920" cy="35084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INSIGHT</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Scoring Design Matters</a:t>
            </a:r>
            <a:endParaRPr lang="en-US" sz="2200" dirty="0"/>
          </a:p>
        </p:txBody>
      </p:sp>
      <p:sp>
        <p:nvSpPr>
          <p:cNvPr id="9" name="Shape 7"/>
          <p:cNvSpPr/>
          <p:nvPr/>
        </p:nvSpPr>
        <p:spPr>
          <a:xfrm>
            <a:off x="457200" y="1188719"/>
            <a:ext cx="4572000" cy="3716919"/>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457200" y="1188720"/>
            <a:ext cx="54864" cy="3520440"/>
          </a:xfrm>
          <a:prstGeom prst="rect">
            <a:avLst/>
          </a:prstGeom>
          <a:solidFill>
            <a:srgbClr val="F4A261"/>
          </a:solidFill>
          <a:ln w="12700">
            <a:solidFill>
              <a:srgbClr val="F4A261"/>
            </a:solidFill>
            <a:prstDash val="solid"/>
          </a:ln>
        </p:spPr>
        <p:txBody>
          <a:bodyPr/>
          <a:lstStyle/>
          <a:p>
            <a:endParaRPr lang="en-US"/>
          </a:p>
        </p:txBody>
      </p:sp>
      <p:sp>
        <p:nvSpPr>
          <p:cNvPr id="11" name="Text 9"/>
          <p:cNvSpPr/>
          <p:nvPr/>
        </p:nvSpPr>
        <p:spPr>
          <a:xfrm>
            <a:off x="685800" y="1371600"/>
            <a:ext cx="4206240" cy="640080"/>
          </a:xfrm>
          <a:prstGeom prst="rect">
            <a:avLst/>
          </a:prstGeom>
          <a:noFill/>
          <a:ln/>
        </p:spPr>
        <p:txBody>
          <a:bodyPr wrap="square" lIns="0" tIns="0" rIns="0" bIns="0" rtlCol="0" anchor="t"/>
          <a:lstStyle/>
          <a:p>
            <a:pPr marL="0" indent="0">
              <a:buNone/>
            </a:pPr>
            <a:r>
              <a:rPr lang="en-US" sz="1100" dirty="0">
                <a:solidFill>
                  <a:srgbClr val="1A1B2E"/>
                </a:solidFill>
                <a:latin typeface="Calibri" pitchFamily="34" charset="0"/>
                <a:ea typeface="Calibri" pitchFamily="34" charset="-122"/>
                <a:cs typeface="Calibri" pitchFamily="34" charset="-120"/>
              </a:rPr>
              <a:t>One of the strongest findings: </a:t>
            </a:r>
            <a:r>
              <a:rPr lang="en-US" sz="1100" b="1" dirty="0">
                <a:solidFill>
                  <a:schemeClr val="tx1"/>
                </a:solidFill>
                <a:latin typeface="Calibri" pitchFamily="34" charset="0"/>
                <a:ea typeface="Calibri" pitchFamily="34" charset="-122"/>
                <a:cs typeface="Calibri" pitchFamily="34" charset="-120"/>
              </a:rPr>
              <a:t>scoring design dominates</a:t>
            </a:r>
            <a:r>
              <a:rPr lang="en-US" sz="1100" dirty="0">
                <a:solidFill>
                  <a:schemeClr val="tx1"/>
                </a:solidFill>
                <a:latin typeface="Calibri" pitchFamily="34" charset="0"/>
                <a:ea typeface="Calibri" pitchFamily="34" charset="-122"/>
                <a:cs typeface="Calibri" pitchFamily="34" charset="-120"/>
              </a:rPr>
              <a:t> </a:t>
            </a:r>
            <a:r>
              <a:rPr lang="en-US" sz="1100" dirty="0">
                <a:solidFill>
                  <a:srgbClr val="1A1B2E"/>
                </a:solidFill>
                <a:latin typeface="Calibri" pitchFamily="34" charset="0"/>
                <a:ea typeface="Calibri" pitchFamily="34" charset="-122"/>
                <a:cs typeface="Calibri" pitchFamily="34" charset="-120"/>
              </a:rPr>
              <a:t>final detection quality - even without retraining.</a:t>
            </a:r>
            <a:endParaRPr lang="en-US" sz="1100" dirty="0"/>
          </a:p>
        </p:txBody>
      </p:sp>
      <p:sp>
        <p:nvSpPr>
          <p:cNvPr id="12" name="Shape 10"/>
          <p:cNvSpPr/>
          <p:nvPr/>
        </p:nvSpPr>
        <p:spPr>
          <a:xfrm>
            <a:off x="685800" y="2121408"/>
            <a:ext cx="128016" cy="128016"/>
          </a:xfrm>
          <a:prstGeom prst="rect">
            <a:avLst/>
          </a:prstGeom>
          <a:solidFill>
            <a:srgbClr val="F4A261"/>
          </a:solidFill>
          <a:ln w="12700">
            <a:solidFill>
              <a:srgbClr val="F4A261"/>
            </a:solidFill>
            <a:prstDash val="solid"/>
          </a:ln>
        </p:spPr>
        <p:txBody>
          <a:bodyPr/>
          <a:lstStyle/>
          <a:p>
            <a:endParaRPr lang="en-US"/>
          </a:p>
        </p:txBody>
      </p:sp>
      <p:sp>
        <p:nvSpPr>
          <p:cNvPr id="13" name="Text 11"/>
          <p:cNvSpPr/>
          <p:nvPr/>
        </p:nvSpPr>
        <p:spPr>
          <a:xfrm>
            <a:off x="905256" y="205740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Hazelnut scoring comparison image level</a:t>
            </a:r>
            <a:endParaRPr lang="en-US" sz="1300" dirty="0"/>
          </a:p>
        </p:txBody>
      </p:sp>
      <p:sp>
        <p:nvSpPr>
          <p:cNvPr id="14" name="Shape 12"/>
          <p:cNvSpPr/>
          <p:nvPr/>
        </p:nvSpPr>
        <p:spPr>
          <a:xfrm>
            <a:off x="740664" y="2491740"/>
            <a:ext cx="82296" cy="82296"/>
          </a:xfrm>
          <a:prstGeom prst="rect">
            <a:avLst/>
          </a:prstGeom>
          <a:solidFill>
            <a:srgbClr val="F4A261"/>
          </a:solidFill>
          <a:ln w="12700">
            <a:solidFill>
              <a:srgbClr val="F4A261"/>
            </a:solidFill>
            <a:prstDash val="solid"/>
          </a:ln>
        </p:spPr>
        <p:txBody>
          <a:bodyPr/>
          <a:lstStyle/>
          <a:p>
            <a:endParaRPr lang="en-US"/>
          </a:p>
        </p:txBody>
      </p:sp>
      <p:sp>
        <p:nvSpPr>
          <p:cNvPr id="15" name="Text 13"/>
          <p:cNvSpPr/>
          <p:nvPr/>
        </p:nvSpPr>
        <p:spPr>
          <a:xfrm>
            <a:off x="960120" y="2377440"/>
            <a:ext cx="3931920" cy="274320"/>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SSIM:</a:t>
            </a:r>
            <a:r>
              <a:rPr lang="en-US" sz="1100" b="1" dirty="0">
                <a:solidFill>
                  <a:srgbClr val="1A1B2E"/>
                </a:solidFill>
                <a:latin typeface="Calibri" pitchFamily="34" charset="0"/>
                <a:ea typeface="Calibri" pitchFamily="34" charset="-122"/>
                <a:cs typeface="Calibri" pitchFamily="34" charset="-120"/>
              </a:rPr>
              <a:t>  0.407</a:t>
            </a:r>
            <a:endParaRPr lang="en-US" sz="1100" dirty="0"/>
          </a:p>
        </p:txBody>
      </p:sp>
      <p:sp>
        <p:nvSpPr>
          <p:cNvPr id="16" name="Shape 14"/>
          <p:cNvSpPr/>
          <p:nvPr/>
        </p:nvSpPr>
        <p:spPr>
          <a:xfrm>
            <a:off x="740664" y="2766060"/>
            <a:ext cx="82296" cy="82296"/>
          </a:xfrm>
          <a:prstGeom prst="rect">
            <a:avLst/>
          </a:prstGeom>
          <a:solidFill>
            <a:srgbClr val="F4A261"/>
          </a:solidFill>
          <a:ln w="12700">
            <a:solidFill>
              <a:srgbClr val="F4A261"/>
            </a:solidFill>
            <a:prstDash val="solid"/>
          </a:ln>
        </p:spPr>
        <p:txBody>
          <a:bodyPr/>
          <a:lstStyle/>
          <a:p>
            <a:endParaRPr lang="en-US"/>
          </a:p>
        </p:txBody>
      </p:sp>
      <p:sp>
        <p:nvSpPr>
          <p:cNvPr id="17" name="Text 15"/>
          <p:cNvSpPr/>
          <p:nvPr/>
        </p:nvSpPr>
        <p:spPr>
          <a:xfrm>
            <a:off x="960120" y="2651760"/>
            <a:ext cx="3931920" cy="274320"/>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L2 (combined scoring):</a:t>
            </a:r>
            <a:r>
              <a:rPr lang="en-US" sz="1100" b="1" dirty="0">
                <a:solidFill>
                  <a:srgbClr val="E07A3F"/>
                </a:solidFill>
                <a:latin typeface="Calibri" pitchFamily="34" charset="0"/>
                <a:ea typeface="Calibri" pitchFamily="34" charset="-122"/>
                <a:cs typeface="Calibri" pitchFamily="34" charset="-120"/>
              </a:rPr>
              <a:t>  0.808</a:t>
            </a:r>
            <a:endParaRPr lang="en-US" sz="1100" dirty="0"/>
          </a:p>
        </p:txBody>
      </p:sp>
      <p:sp>
        <p:nvSpPr>
          <p:cNvPr id="18" name="Shape 16"/>
          <p:cNvSpPr/>
          <p:nvPr/>
        </p:nvSpPr>
        <p:spPr>
          <a:xfrm>
            <a:off x="685800" y="3081528"/>
            <a:ext cx="128016" cy="128016"/>
          </a:xfrm>
          <a:prstGeom prst="rect">
            <a:avLst/>
          </a:prstGeom>
          <a:solidFill>
            <a:srgbClr val="F4A261"/>
          </a:solidFill>
          <a:ln w="12700">
            <a:solidFill>
              <a:srgbClr val="F4A261"/>
            </a:solidFill>
            <a:prstDash val="solid"/>
          </a:ln>
        </p:spPr>
        <p:txBody>
          <a:bodyPr/>
          <a:lstStyle/>
          <a:p>
            <a:endParaRPr lang="en-US"/>
          </a:p>
        </p:txBody>
      </p:sp>
      <p:sp>
        <p:nvSpPr>
          <p:cNvPr id="19" name="Text 17"/>
          <p:cNvSpPr/>
          <p:nvPr/>
        </p:nvSpPr>
        <p:spPr>
          <a:xfrm>
            <a:off x="905256" y="301752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Aggregation fix on Hazelnut</a:t>
            </a:r>
            <a:endParaRPr lang="en-US" sz="1300" dirty="0"/>
          </a:p>
        </p:txBody>
      </p:sp>
      <p:sp>
        <p:nvSpPr>
          <p:cNvPr id="20" name="Shape 18"/>
          <p:cNvSpPr/>
          <p:nvPr/>
        </p:nvSpPr>
        <p:spPr>
          <a:xfrm>
            <a:off x="740664" y="3451860"/>
            <a:ext cx="82296" cy="82296"/>
          </a:xfrm>
          <a:prstGeom prst="rect">
            <a:avLst/>
          </a:prstGeom>
          <a:solidFill>
            <a:srgbClr val="F4A261"/>
          </a:solidFill>
          <a:ln w="12700">
            <a:solidFill>
              <a:srgbClr val="F4A261"/>
            </a:solidFill>
            <a:prstDash val="solid"/>
          </a:ln>
        </p:spPr>
        <p:txBody>
          <a:bodyPr/>
          <a:lstStyle/>
          <a:p>
            <a:endParaRPr lang="en-US"/>
          </a:p>
        </p:txBody>
      </p:sp>
      <p:sp>
        <p:nvSpPr>
          <p:cNvPr id="21" name="Text 19"/>
          <p:cNvSpPr/>
          <p:nvPr/>
        </p:nvSpPr>
        <p:spPr>
          <a:xfrm>
            <a:off x="960120" y="3337560"/>
            <a:ext cx="3931920" cy="274320"/>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Switching from 95th-percentile to max score</a:t>
            </a:r>
            <a:endParaRPr lang="en-US" sz="1100" dirty="0"/>
          </a:p>
        </p:txBody>
      </p:sp>
      <p:sp>
        <p:nvSpPr>
          <p:cNvPr id="22" name="Shape 20"/>
          <p:cNvSpPr/>
          <p:nvPr/>
        </p:nvSpPr>
        <p:spPr>
          <a:xfrm>
            <a:off x="740664" y="3726180"/>
            <a:ext cx="82296" cy="82296"/>
          </a:xfrm>
          <a:prstGeom prst="rect">
            <a:avLst/>
          </a:prstGeom>
          <a:solidFill>
            <a:srgbClr val="F4A261"/>
          </a:solidFill>
          <a:ln w="12700">
            <a:solidFill>
              <a:srgbClr val="F4A261"/>
            </a:solidFill>
            <a:prstDash val="solid"/>
          </a:ln>
        </p:spPr>
        <p:txBody>
          <a:bodyPr/>
          <a:lstStyle/>
          <a:p>
            <a:endParaRPr lang="en-US"/>
          </a:p>
        </p:txBody>
      </p:sp>
      <p:sp>
        <p:nvSpPr>
          <p:cNvPr id="23" name="Text 21"/>
          <p:cNvSpPr/>
          <p:nvPr/>
        </p:nvSpPr>
        <p:spPr>
          <a:xfrm>
            <a:off x="960120" y="3611880"/>
            <a:ext cx="3931920" cy="274320"/>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Hazelnut image AUROC: </a:t>
            </a:r>
            <a:r>
              <a:rPr lang="en-US" sz="1100" b="1" dirty="0">
                <a:solidFill>
                  <a:srgbClr val="E07A3F"/>
                </a:solidFill>
                <a:latin typeface="Calibri" pitchFamily="34" charset="0"/>
                <a:ea typeface="Calibri" pitchFamily="34" charset="-122"/>
                <a:cs typeface="Calibri" pitchFamily="34" charset="-120"/>
              </a:rPr>
              <a:t>0.417 to 0.744</a:t>
            </a:r>
            <a:endParaRPr lang="en-US" sz="1100" dirty="0"/>
          </a:p>
        </p:txBody>
      </p:sp>
      <p:pic>
        <p:nvPicPr>
          <p:cNvPr id="35" name="Picture 34">
            <a:extLst>
              <a:ext uri="{FF2B5EF4-FFF2-40B4-BE49-F238E27FC236}">
                <a16:creationId xmlns:a16="http://schemas.microsoft.com/office/drawing/2014/main" id="{DF57D8E1-F6E3-8255-CD6A-78723CADBBCF}"/>
              </a:ext>
            </a:extLst>
          </p:cNvPr>
          <p:cNvPicPr>
            <a:picLocks noChangeAspect="1"/>
          </p:cNvPicPr>
          <p:nvPr/>
        </p:nvPicPr>
        <p:blipFill>
          <a:blip r:embed="rId3"/>
          <a:stretch>
            <a:fillRect/>
          </a:stretch>
        </p:blipFill>
        <p:spPr>
          <a:xfrm>
            <a:off x="5422393" y="1182275"/>
            <a:ext cx="2816352" cy="1835245"/>
          </a:xfrm>
          <a:prstGeom prst="rect">
            <a:avLst/>
          </a:prstGeom>
        </p:spPr>
      </p:pic>
      <p:pic>
        <p:nvPicPr>
          <p:cNvPr id="36" name="Picture 35">
            <a:extLst>
              <a:ext uri="{FF2B5EF4-FFF2-40B4-BE49-F238E27FC236}">
                <a16:creationId xmlns:a16="http://schemas.microsoft.com/office/drawing/2014/main" id="{D456BBCB-A28F-3D16-F399-9AEEBDA65FFB}"/>
              </a:ext>
            </a:extLst>
          </p:cNvPr>
          <p:cNvPicPr>
            <a:picLocks noChangeAspect="1"/>
          </p:cNvPicPr>
          <p:nvPr/>
        </p:nvPicPr>
        <p:blipFill>
          <a:blip r:embed="rId4"/>
          <a:stretch>
            <a:fillRect/>
          </a:stretch>
        </p:blipFill>
        <p:spPr>
          <a:xfrm>
            <a:off x="5422393" y="3163824"/>
            <a:ext cx="2761487" cy="18333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4572"/>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OUTLOOK</a:t>
            </a:r>
            <a:endParaRPr lang="en-US" sz="900" dirty="0"/>
          </a:p>
        </p:txBody>
      </p:sp>
      <p:sp>
        <p:nvSpPr>
          <p:cNvPr id="8" name="Text 6"/>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Limitations &amp; Future Scope</a:t>
            </a:r>
            <a:endParaRPr lang="en-US" sz="2200" dirty="0"/>
          </a:p>
        </p:txBody>
      </p:sp>
      <p:sp>
        <p:nvSpPr>
          <p:cNvPr id="9" name="Shape 7"/>
          <p:cNvSpPr/>
          <p:nvPr/>
        </p:nvSpPr>
        <p:spPr>
          <a:xfrm>
            <a:off x="457200" y="1188720"/>
            <a:ext cx="4160520" cy="310896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10" name="Shape 8"/>
          <p:cNvSpPr/>
          <p:nvPr/>
        </p:nvSpPr>
        <p:spPr>
          <a:xfrm>
            <a:off x="457200" y="1188720"/>
            <a:ext cx="54864" cy="3108960"/>
          </a:xfrm>
          <a:prstGeom prst="rect">
            <a:avLst/>
          </a:prstGeom>
          <a:solidFill>
            <a:srgbClr val="F4A261"/>
          </a:solidFill>
          <a:ln w="12700">
            <a:solidFill>
              <a:srgbClr val="F4A261"/>
            </a:solidFill>
            <a:prstDash val="solid"/>
          </a:ln>
        </p:spPr>
        <p:txBody>
          <a:bodyPr/>
          <a:lstStyle/>
          <a:p>
            <a:endParaRPr lang="en-US"/>
          </a:p>
        </p:txBody>
      </p:sp>
      <p:sp>
        <p:nvSpPr>
          <p:cNvPr id="11" name="Shape 9"/>
          <p:cNvSpPr/>
          <p:nvPr/>
        </p:nvSpPr>
        <p:spPr>
          <a:xfrm>
            <a:off x="685800" y="1389888"/>
            <a:ext cx="128016" cy="128016"/>
          </a:xfrm>
          <a:prstGeom prst="rect">
            <a:avLst/>
          </a:prstGeom>
          <a:solidFill>
            <a:srgbClr val="F4A261"/>
          </a:solidFill>
          <a:ln w="12700">
            <a:solidFill>
              <a:srgbClr val="F4A261"/>
            </a:solidFill>
            <a:prstDash val="solid"/>
          </a:ln>
        </p:spPr>
        <p:txBody>
          <a:bodyPr/>
          <a:lstStyle/>
          <a:p>
            <a:endParaRPr lang="en-US"/>
          </a:p>
        </p:txBody>
      </p:sp>
      <p:sp>
        <p:nvSpPr>
          <p:cNvPr id="12" name="Text 10"/>
          <p:cNvSpPr/>
          <p:nvPr/>
        </p:nvSpPr>
        <p:spPr>
          <a:xfrm>
            <a:off x="905256" y="132588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Current limitations</a:t>
            </a:r>
            <a:endParaRPr lang="en-US" sz="1300" dirty="0"/>
          </a:p>
        </p:txBody>
      </p:sp>
      <p:sp>
        <p:nvSpPr>
          <p:cNvPr id="13" name="Shape 11"/>
          <p:cNvSpPr/>
          <p:nvPr/>
        </p:nvSpPr>
        <p:spPr>
          <a:xfrm>
            <a:off x="740664" y="1833372"/>
            <a:ext cx="82296" cy="82296"/>
          </a:xfrm>
          <a:prstGeom prst="rect">
            <a:avLst/>
          </a:prstGeom>
          <a:solidFill>
            <a:srgbClr val="F4A261"/>
          </a:solidFill>
          <a:ln w="12700">
            <a:solidFill>
              <a:srgbClr val="F4A261"/>
            </a:solidFill>
            <a:prstDash val="solid"/>
          </a:ln>
        </p:spPr>
        <p:txBody>
          <a:bodyPr/>
          <a:lstStyle/>
          <a:p>
            <a:endParaRPr lang="en-US"/>
          </a:p>
        </p:txBody>
      </p:sp>
      <p:sp>
        <p:nvSpPr>
          <p:cNvPr id="14" name="Text 12"/>
          <p:cNvSpPr/>
          <p:nvPr/>
        </p:nvSpPr>
        <p:spPr>
          <a:xfrm>
            <a:off x="960120" y="1691640"/>
            <a:ext cx="352044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Training resolution limited to 128 × 128</a:t>
            </a:r>
            <a:endParaRPr lang="en-US" sz="1100" dirty="0"/>
          </a:p>
        </p:txBody>
      </p:sp>
      <p:sp>
        <p:nvSpPr>
          <p:cNvPr id="15" name="Shape 13"/>
          <p:cNvSpPr/>
          <p:nvPr/>
        </p:nvSpPr>
        <p:spPr>
          <a:xfrm>
            <a:off x="740664" y="2162556"/>
            <a:ext cx="82296" cy="82296"/>
          </a:xfrm>
          <a:prstGeom prst="rect">
            <a:avLst/>
          </a:prstGeom>
          <a:solidFill>
            <a:srgbClr val="F4A261"/>
          </a:solidFill>
          <a:ln w="12700">
            <a:solidFill>
              <a:srgbClr val="F4A261"/>
            </a:solidFill>
            <a:prstDash val="solid"/>
          </a:ln>
        </p:spPr>
        <p:txBody>
          <a:bodyPr/>
          <a:lstStyle/>
          <a:p>
            <a:endParaRPr lang="en-US"/>
          </a:p>
        </p:txBody>
      </p:sp>
      <p:sp>
        <p:nvSpPr>
          <p:cNvPr id="16" name="Text 14"/>
          <p:cNvSpPr/>
          <p:nvPr/>
        </p:nvSpPr>
        <p:spPr>
          <a:xfrm>
            <a:off x="960120" y="2020824"/>
            <a:ext cx="352044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Weaker on structurally complex categories</a:t>
            </a:r>
            <a:endParaRPr lang="en-US" sz="1100" dirty="0"/>
          </a:p>
        </p:txBody>
      </p:sp>
      <p:sp>
        <p:nvSpPr>
          <p:cNvPr id="17" name="Shape 15"/>
          <p:cNvSpPr/>
          <p:nvPr/>
        </p:nvSpPr>
        <p:spPr>
          <a:xfrm>
            <a:off x="740664" y="2491740"/>
            <a:ext cx="82296" cy="82296"/>
          </a:xfrm>
          <a:prstGeom prst="rect">
            <a:avLst/>
          </a:prstGeom>
          <a:solidFill>
            <a:srgbClr val="F4A261"/>
          </a:solidFill>
          <a:ln w="12700">
            <a:solidFill>
              <a:srgbClr val="F4A261"/>
            </a:solidFill>
            <a:prstDash val="solid"/>
          </a:ln>
        </p:spPr>
        <p:txBody>
          <a:bodyPr/>
          <a:lstStyle/>
          <a:p>
            <a:endParaRPr lang="en-US"/>
          </a:p>
        </p:txBody>
      </p:sp>
      <p:sp>
        <p:nvSpPr>
          <p:cNvPr id="18" name="Text 16"/>
          <p:cNvSpPr/>
          <p:nvPr/>
        </p:nvSpPr>
        <p:spPr>
          <a:xfrm>
            <a:off x="960120" y="2350008"/>
            <a:ext cx="352044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Trained from scratch (no large-scale pretraining)</a:t>
            </a:r>
            <a:endParaRPr lang="en-US" sz="1100" dirty="0"/>
          </a:p>
        </p:txBody>
      </p:sp>
      <p:sp>
        <p:nvSpPr>
          <p:cNvPr id="19" name="Shape 17"/>
          <p:cNvSpPr/>
          <p:nvPr/>
        </p:nvSpPr>
        <p:spPr>
          <a:xfrm>
            <a:off x="740664" y="2820924"/>
            <a:ext cx="82296" cy="82296"/>
          </a:xfrm>
          <a:prstGeom prst="rect">
            <a:avLst/>
          </a:prstGeom>
          <a:solidFill>
            <a:srgbClr val="F4A261"/>
          </a:solidFill>
          <a:ln w="12700">
            <a:solidFill>
              <a:srgbClr val="F4A261"/>
            </a:solidFill>
            <a:prstDash val="solid"/>
          </a:ln>
        </p:spPr>
        <p:txBody>
          <a:bodyPr/>
          <a:lstStyle/>
          <a:p>
            <a:endParaRPr lang="en-US"/>
          </a:p>
        </p:txBody>
      </p:sp>
      <p:sp>
        <p:nvSpPr>
          <p:cNvPr id="20" name="Text 18"/>
          <p:cNvSpPr/>
          <p:nvPr/>
        </p:nvSpPr>
        <p:spPr>
          <a:xfrm>
            <a:off x="960120" y="2679192"/>
            <a:ext cx="352044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Overall performance still below PatchCore</a:t>
            </a:r>
            <a:endParaRPr lang="en-US" sz="1100" dirty="0"/>
          </a:p>
        </p:txBody>
      </p:sp>
      <p:sp>
        <p:nvSpPr>
          <p:cNvPr id="21" name="Shape 19"/>
          <p:cNvSpPr/>
          <p:nvPr/>
        </p:nvSpPr>
        <p:spPr>
          <a:xfrm>
            <a:off x="4754880" y="1188720"/>
            <a:ext cx="3931920" cy="3108960"/>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endParaRPr lang="en-US"/>
          </a:p>
        </p:txBody>
      </p:sp>
      <p:sp>
        <p:nvSpPr>
          <p:cNvPr id="22" name="Shape 20"/>
          <p:cNvSpPr/>
          <p:nvPr/>
        </p:nvSpPr>
        <p:spPr>
          <a:xfrm>
            <a:off x="4754880" y="1188720"/>
            <a:ext cx="54864" cy="3108960"/>
          </a:xfrm>
          <a:prstGeom prst="rect">
            <a:avLst/>
          </a:prstGeom>
          <a:solidFill>
            <a:srgbClr val="1E2761"/>
          </a:solidFill>
          <a:ln w="12700">
            <a:solidFill>
              <a:srgbClr val="1E2761"/>
            </a:solidFill>
            <a:prstDash val="solid"/>
          </a:ln>
        </p:spPr>
        <p:txBody>
          <a:bodyPr/>
          <a:lstStyle/>
          <a:p>
            <a:endParaRPr lang="en-US"/>
          </a:p>
        </p:txBody>
      </p:sp>
      <p:sp>
        <p:nvSpPr>
          <p:cNvPr id="23" name="Shape 21"/>
          <p:cNvSpPr/>
          <p:nvPr/>
        </p:nvSpPr>
        <p:spPr>
          <a:xfrm>
            <a:off x="4983480" y="1389888"/>
            <a:ext cx="128016" cy="128016"/>
          </a:xfrm>
          <a:prstGeom prst="rect">
            <a:avLst/>
          </a:prstGeom>
          <a:solidFill>
            <a:srgbClr val="F4A261"/>
          </a:solidFill>
          <a:ln w="12700">
            <a:solidFill>
              <a:srgbClr val="F4A261"/>
            </a:solidFill>
            <a:prstDash val="solid"/>
          </a:ln>
        </p:spPr>
        <p:txBody>
          <a:bodyPr/>
          <a:lstStyle/>
          <a:p>
            <a:endParaRPr lang="en-US"/>
          </a:p>
        </p:txBody>
      </p:sp>
      <p:sp>
        <p:nvSpPr>
          <p:cNvPr id="24" name="Text 22"/>
          <p:cNvSpPr/>
          <p:nvPr/>
        </p:nvSpPr>
        <p:spPr>
          <a:xfrm>
            <a:off x="5202936" y="1325880"/>
            <a:ext cx="3438144" cy="292608"/>
          </a:xfrm>
          <a:prstGeom prst="rect">
            <a:avLst/>
          </a:prstGeom>
          <a:noFill/>
          <a:ln/>
        </p:spPr>
        <p:txBody>
          <a:bodyPr wrap="square" lIns="0" tIns="0" rIns="0" bIns="0" rtlCol="0" anchor="ctr"/>
          <a:lstStyle/>
          <a:p>
            <a:pPr marL="0" indent="0">
              <a:buNone/>
            </a:pPr>
            <a:r>
              <a:rPr lang="en-US" sz="1300" b="1" dirty="0">
                <a:solidFill>
                  <a:srgbClr val="1A1B2E"/>
                </a:solidFill>
                <a:latin typeface="Georgia" pitchFamily="34" charset="0"/>
                <a:ea typeface="Georgia" pitchFamily="34" charset="-122"/>
                <a:cs typeface="Georgia" pitchFamily="34" charset="-120"/>
              </a:rPr>
              <a:t>Future scope</a:t>
            </a:r>
            <a:endParaRPr lang="en-US" sz="1300" dirty="0"/>
          </a:p>
        </p:txBody>
      </p:sp>
      <p:sp>
        <p:nvSpPr>
          <p:cNvPr id="25" name="Shape 23"/>
          <p:cNvSpPr/>
          <p:nvPr/>
        </p:nvSpPr>
        <p:spPr>
          <a:xfrm>
            <a:off x="5038344" y="1833372"/>
            <a:ext cx="82296" cy="82296"/>
          </a:xfrm>
          <a:prstGeom prst="rect">
            <a:avLst/>
          </a:prstGeom>
          <a:solidFill>
            <a:srgbClr val="F4A261"/>
          </a:solidFill>
          <a:ln w="12700">
            <a:solidFill>
              <a:srgbClr val="F4A261"/>
            </a:solidFill>
            <a:prstDash val="solid"/>
          </a:ln>
        </p:spPr>
        <p:txBody>
          <a:bodyPr/>
          <a:lstStyle/>
          <a:p>
            <a:endParaRPr lang="en-US"/>
          </a:p>
        </p:txBody>
      </p:sp>
      <p:sp>
        <p:nvSpPr>
          <p:cNvPr id="26" name="Text 24"/>
          <p:cNvSpPr/>
          <p:nvPr/>
        </p:nvSpPr>
        <p:spPr>
          <a:xfrm>
            <a:off x="5257800" y="1691640"/>
            <a:ext cx="324612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256 × 256 higher-resolution training</a:t>
            </a:r>
            <a:endParaRPr lang="en-US" sz="1100" dirty="0"/>
          </a:p>
        </p:txBody>
      </p:sp>
      <p:sp>
        <p:nvSpPr>
          <p:cNvPr id="27" name="Shape 25"/>
          <p:cNvSpPr/>
          <p:nvPr/>
        </p:nvSpPr>
        <p:spPr>
          <a:xfrm>
            <a:off x="5038344" y="2162556"/>
            <a:ext cx="82296" cy="82296"/>
          </a:xfrm>
          <a:prstGeom prst="rect">
            <a:avLst/>
          </a:prstGeom>
          <a:solidFill>
            <a:srgbClr val="F4A261"/>
          </a:solidFill>
          <a:ln w="12700">
            <a:solidFill>
              <a:srgbClr val="F4A261"/>
            </a:solidFill>
            <a:prstDash val="solid"/>
          </a:ln>
        </p:spPr>
        <p:txBody>
          <a:bodyPr/>
          <a:lstStyle/>
          <a:p>
            <a:endParaRPr lang="en-US"/>
          </a:p>
        </p:txBody>
      </p:sp>
      <p:sp>
        <p:nvSpPr>
          <p:cNvPr id="28" name="Text 26"/>
          <p:cNvSpPr/>
          <p:nvPr/>
        </p:nvSpPr>
        <p:spPr>
          <a:xfrm>
            <a:off x="5257800" y="2020824"/>
            <a:ext cx="324612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DiT-Small architecture scaling</a:t>
            </a:r>
            <a:endParaRPr lang="en-US" sz="1100" dirty="0"/>
          </a:p>
        </p:txBody>
      </p:sp>
      <p:sp>
        <p:nvSpPr>
          <p:cNvPr id="29" name="Shape 27"/>
          <p:cNvSpPr/>
          <p:nvPr/>
        </p:nvSpPr>
        <p:spPr>
          <a:xfrm>
            <a:off x="5038344" y="2491740"/>
            <a:ext cx="82296" cy="82296"/>
          </a:xfrm>
          <a:prstGeom prst="rect">
            <a:avLst/>
          </a:prstGeom>
          <a:solidFill>
            <a:srgbClr val="F4A261"/>
          </a:solidFill>
          <a:ln w="12700">
            <a:solidFill>
              <a:srgbClr val="F4A261"/>
            </a:solidFill>
            <a:prstDash val="solid"/>
          </a:ln>
        </p:spPr>
        <p:txBody>
          <a:bodyPr/>
          <a:lstStyle/>
          <a:p>
            <a:endParaRPr lang="en-US"/>
          </a:p>
        </p:txBody>
      </p:sp>
      <p:sp>
        <p:nvSpPr>
          <p:cNvPr id="30" name="Text 28"/>
          <p:cNvSpPr/>
          <p:nvPr/>
        </p:nvSpPr>
        <p:spPr>
          <a:xfrm>
            <a:off x="5257800" y="2350008"/>
            <a:ext cx="324612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Pretrained initialization</a:t>
            </a:r>
            <a:endParaRPr lang="en-US" sz="1100" dirty="0"/>
          </a:p>
        </p:txBody>
      </p:sp>
      <p:sp>
        <p:nvSpPr>
          <p:cNvPr id="31" name="Shape 29"/>
          <p:cNvSpPr/>
          <p:nvPr/>
        </p:nvSpPr>
        <p:spPr>
          <a:xfrm>
            <a:off x="5038344" y="2820924"/>
            <a:ext cx="82296" cy="82296"/>
          </a:xfrm>
          <a:prstGeom prst="rect">
            <a:avLst/>
          </a:prstGeom>
          <a:solidFill>
            <a:srgbClr val="F4A261"/>
          </a:solidFill>
          <a:ln w="12700">
            <a:solidFill>
              <a:srgbClr val="F4A261"/>
            </a:solidFill>
            <a:prstDash val="solid"/>
          </a:ln>
        </p:spPr>
        <p:txBody>
          <a:bodyPr/>
          <a:lstStyle/>
          <a:p>
            <a:endParaRPr lang="en-US"/>
          </a:p>
        </p:txBody>
      </p:sp>
      <p:sp>
        <p:nvSpPr>
          <p:cNvPr id="32" name="Text 30"/>
          <p:cNvSpPr/>
          <p:nvPr/>
        </p:nvSpPr>
        <p:spPr>
          <a:xfrm>
            <a:off x="5257800" y="2679192"/>
            <a:ext cx="3246120" cy="329184"/>
          </a:xfrm>
          <a:prstGeom prst="rect">
            <a:avLst/>
          </a:prstGeom>
          <a:noFill/>
          <a:ln/>
        </p:spPr>
        <p:txBody>
          <a:bodyPr wrap="square" lIns="0" tIns="0" rIns="0" bIns="0" rtlCol="0" anchor="ctr"/>
          <a:lstStyle/>
          <a:p>
            <a:pPr marL="0" indent="0">
              <a:buNone/>
            </a:pPr>
            <a:r>
              <a:rPr lang="en-US" sz="1100" dirty="0">
                <a:solidFill>
                  <a:srgbClr val="1A1B2E"/>
                </a:solidFill>
                <a:latin typeface="Calibri" pitchFamily="34" charset="0"/>
                <a:ea typeface="Calibri" pitchFamily="34" charset="-122"/>
                <a:cs typeface="Calibri" pitchFamily="34" charset="-120"/>
              </a:rPr>
              <a:t>PRO metric and DDIM speed benchmarking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2BE43-9348-6CBC-2DC6-DEC1360AB2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A552F13-9058-BF2F-8E6F-887CB7EDEA19}"/>
              </a:ext>
            </a:extLst>
          </p:cNvPr>
          <p:cNvSpPr/>
          <p:nvPr/>
        </p:nvSpPr>
        <p:spPr>
          <a:xfrm>
            <a:off x="0" y="9144"/>
            <a:ext cx="9144000" cy="868680"/>
          </a:xfrm>
          <a:prstGeom prst="rect">
            <a:avLst/>
          </a:prstGeom>
          <a:solidFill>
            <a:srgbClr val="1E2761"/>
          </a:solidFill>
          <a:ln w="12700">
            <a:solidFill>
              <a:srgbClr val="1E2761"/>
            </a:solidFill>
            <a:prstDash val="solid"/>
          </a:ln>
        </p:spPr>
        <p:txBody>
          <a:bodyPr/>
          <a:lstStyle/>
          <a:p>
            <a:endParaRPr lang="en-US"/>
          </a:p>
        </p:txBody>
      </p:sp>
      <p:sp>
        <p:nvSpPr>
          <p:cNvPr id="3" name="Shape 1">
            <a:extLst>
              <a:ext uri="{FF2B5EF4-FFF2-40B4-BE49-F238E27FC236}">
                <a16:creationId xmlns:a16="http://schemas.microsoft.com/office/drawing/2014/main" id="{570E1F94-7E63-D2FC-87A9-B333F96C49FA}"/>
              </a:ext>
            </a:extLst>
          </p:cNvPr>
          <p:cNvSpPr/>
          <p:nvPr/>
        </p:nvSpPr>
        <p:spPr>
          <a:xfrm>
            <a:off x="0" y="868680"/>
            <a:ext cx="9144000" cy="54864"/>
          </a:xfrm>
          <a:prstGeom prst="rect">
            <a:avLst/>
          </a:prstGeom>
          <a:solidFill>
            <a:srgbClr val="F4A261"/>
          </a:solidFill>
          <a:ln w="12700">
            <a:solidFill>
              <a:srgbClr val="F4A261"/>
            </a:solidFill>
            <a:prstDash val="solid"/>
          </a:ln>
        </p:spPr>
        <p:txBody>
          <a:bodyPr/>
          <a:lstStyle/>
          <a:p>
            <a:endParaRPr lang="en-US"/>
          </a:p>
        </p:txBody>
      </p:sp>
      <p:sp>
        <p:nvSpPr>
          <p:cNvPr id="7" name="Text 5">
            <a:extLst>
              <a:ext uri="{FF2B5EF4-FFF2-40B4-BE49-F238E27FC236}">
                <a16:creationId xmlns:a16="http://schemas.microsoft.com/office/drawing/2014/main" id="{EC208766-F404-C75F-FB6A-027AF8687A90}"/>
              </a:ext>
            </a:extLst>
          </p:cNvPr>
          <p:cNvSpPr/>
          <p:nvPr/>
        </p:nvSpPr>
        <p:spPr>
          <a:xfrm>
            <a:off x="457200" y="118872"/>
            <a:ext cx="7772400" cy="256032"/>
          </a:xfrm>
          <a:prstGeom prst="rect">
            <a:avLst/>
          </a:prstGeom>
          <a:noFill/>
          <a:ln/>
        </p:spPr>
        <p:txBody>
          <a:bodyPr wrap="square" lIns="0" tIns="0" rIns="0" bIns="0" rtlCol="0" anchor="ctr"/>
          <a:lstStyle/>
          <a:p>
            <a:pPr marL="0" indent="0">
              <a:buNone/>
            </a:pPr>
            <a:r>
              <a:rPr lang="en-US" sz="900" b="1" kern="0" spc="400" dirty="0">
                <a:solidFill>
                  <a:srgbClr val="F4A261"/>
                </a:solidFill>
                <a:latin typeface="Calibri" pitchFamily="34" charset="0"/>
                <a:ea typeface="Calibri" pitchFamily="34" charset="-122"/>
                <a:cs typeface="Calibri" pitchFamily="34" charset="-120"/>
              </a:rPr>
              <a:t>INSIGHT</a:t>
            </a:r>
            <a:endParaRPr lang="en-US" sz="900" dirty="0"/>
          </a:p>
        </p:txBody>
      </p:sp>
      <p:sp>
        <p:nvSpPr>
          <p:cNvPr id="8" name="Text 6">
            <a:extLst>
              <a:ext uri="{FF2B5EF4-FFF2-40B4-BE49-F238E27FC236}">
                <a16:creationId xmlns:a16="http://schemas.microsoft.com/office/drawing/2014/main" id="{240143A7-36B5-CB9B-A400-AD445ED35664}"/>
              </a:ext>
            </a:extLst>
          </p:cNvPr>
          <p:cNvSpPr/>
          <p:nvPr/>
        </p:nvSpPr>
        <p:spPr>
          <a:xfrm>
            <a:off x="457200" y="329184"/>
            <a:ext cx="777240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Conclusion</a:t>
            </a:r>
            <a:endParaRPr lang="en-US" sz="2200" dirty="0"/>
          </a:p>
        </p:txBody>
      </p:sp>
      <p:sp>
        <p:nvSpPr>
          <p:cNvPr id="9" name="Shape 7">
            <a:extLst>
              <a:ext uri="{FF2B5EF4-FFF2-40B4-BE49-F238E27FC236}">
                <a16:creationId xmlns:a16="http://schemas.microsoft.com/office/drawing/2014/main" id="{67409323-E894-8214-65AD-56E907A542B7}"/>
              </a:ext>
            </a:extLst>
          </p:cNvPr>
          <p:cNvSpPr/>
          <p:nvPr/>
        </p:nvSpPr>
        <p:spPr>
          <a:xfrm>
            <a:off x="457200" y="1188719"/>
            <a:ext cx="8110728" cy="3716919"/>
          </a:xfrm>
          <a:prstGeom prst="rect">
            <a:avLst/>
          </a:prstGeom>
          <a:solidFill>
            <a:srgbClr val="FFFFFF"/>
          </a:solidFill>
          <a:ln w="9525">
            <a:solidFill>
              <a:srgbClr val="D7DAE6"/>
            </a:solidFill>
            <a:prstDash val="solid"/>
          </a:ln>
          <a:effectLst>
            <a:outerShdw blurRad="76200" dist="12700" dir="5400000" algn="bl" rotWithShape="0">
              <a:srgbClr val="000000">
                <a:alpha val="6000"/>
              </a:srgbClr>
            </a:outerShdw>
          </a:effectLst>
        </p:spPr>
        <p:txBody>
          <a:bodyPr/>
          <a:lstStyle/>
          <a:p>
            <a:r>
              <a:rPr lang="en-US" dirty="0"/>
              <a:t>    Developed a </a:t>
            </a:r>
            <a:r>
              <a:rPr lang="en-US" dirty="0" err="1"/>
              <a:t>DiT</a:t>
            </a:r>
            <a:r>
              <a:rPr lang="en-US" dirty="0"/>
              <a:t>-Tiny solution for anomaly detection</a:t>
            </a:r>
          </a:p>
          <a:p>
            <a:endParaRPr lang="en-US" dirty="0"/>
          </a:p>
          <a:p>
            <a:r>
              <a:rPr lang="en-US" dirty="0"/>
              <a:t>     0.759 pixel level AUROC achieved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Final performance improved significantly through better scoring and aggregation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model shows stronger localization than image-level classification.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Approach - Learned normal visual patterns first, then detected defects by measuring how much the reconstruction deviated from the original image</a:t>
            </a:r>
          </a:p>
          <a:p>
            <a:pPr marL="285750" indent="-285750">
              <a:buFont typeface="Arial" panose="020B0604020202020204" pitchFamily="34" charset="0"/>
              <a:buChar char="•"/>
            </a:pPr>
            <a:endParaRPr lang="en-US" dirty="0"/>
          </a:p>
          <a:p>
            <a:r>
              <a:rPr lang="en-US" dirty="0"/>
              <a:t>     Overall, diffusion-based reconstruction proved to be a promising solution for this task</a:t>
            </a:r>
          </a:p>
        </p:txBody>
      </p:sp>
      <p:sp>
        <p:nvSpPr>
          <p:cNvPr id="10" name="Shape 8">
            <a:extLst>
              <a:ext uri="{FF2B5EF4-FFF2-40B4-BE49-F238E27FC236}">
                <a16:creationId xmlns:a16="http://schemas.microsoft.com/office/drawing/2014/main" id="{337C1982-8C95-B4A2-8C9B-81117DF0FD8B}"/>
              </a:ext>
            </a:extLst>
          </p:cNvPr>
          <p:cNvSpPr/>
          <p:nvPr/>
        </p:nvSpPr>
        <p:spPr>
          <a:xfrm>
            <a:off x="457200" y="1188720"/>
            <a:ext cx="45719" cy="3716918"/>
          </a:xfrm>
          <a:prstGeom prst="rect">
            <a:avLst/>
          </a:prstGeom>
          <a:solidFill>
            <a:srgbClr val="F4A261"/>
          </a:solidFill>
          <a:ln w="12700">
            <a:solidFill>
              <a:srgbClr val="F4A261"/>
            </a:solidFill>
            <a:prstDash val="solid"/>
          </a:ln>
        </p:spPr>
        <p:txBody>
          <a:bodyPr/>
          <a:lstStyle/>
          <a:p>
            <a:endParaRPr lang="en-US"/>
          </a:p>
        </p:txBody>
      </p:sp>
      <p:sp>
        <p:nvSpPr>
          <p:cNvPr id="11" name="Text 9">
            <a:extLst>
              <a:ext uri="{FF2B5EF4-FFF2-40B4-BE49-F238E27FC236}">
                <a16:creationId xmlns:a16="http://schemas.microsoft.com/office/drawing/2014/main" id="{1578E01C-6072-EF31-F2ED-B4536AF593AC}"/>
              </a:ext>
            </a:extLst>
          </p:cNvPr>
          <p:cNvSpPr/>
          <p:nvPr/>
        </p:nvSpPr>
        <p:spPr>
          <a:xfrm>
            <a:off x="685800" y="1371600"/>
            <a:ext cx="4206240" cy="640080"/>
          </a:xfrm>
          <a:prstGeom prst="rect">
            <a:avLst/>
          </a:prstGeom>
          <a:noFill/>
          <a:ln/>
        </p:spPr>
        <p:txBody>
          <a:bodyPr wrap="square" lIns="0" tIns="0" rIns="0" bIns="0" rtlCol="0" anchor="t"/>
          <a:lstStyle/>
          <a:p>
            <a:pPr marL="0" indent="0">
              <a:buNone/>
            </a:pPr>
            <a:endParaRPr lang="en-US" sz="1100" dirty="0"/>
          </a:p>
        </p:txBody>
      </p:sp>
      <p:sp>
        <p:nvSpPr>
          <p:cNvPr id="23" name="Text 21">
            <a:extLst>
              <a:ext uri="{FF2B5EF4-FFF2-40B4-BE49-F238E27FC236}">
                <a16:creationId xmlns:a16="http://schemas.microsoft.com/office/drawing/2014/main" id="{82DD053A-A132-0DDF-76A0-0DD52F7363CB}"/>
              </a:ext>
            </a:extLst>
          </p:cNvPr>
          <p:cNvSpPr/>
          <p:nvPr/>
        </p:nvSpPr>
        <p:spPr>
          <a:xfrm>
            <a:off x="960120" y="3611880"/>
            <a:ext cx="3931920" cy="274320"/>
          </a:xfrm>
          <a:prstGeom prst="rect">
            <a:avLst/>
          </a:prstGeom>
          <a:noFill/>
          <a:ln/>
        </p:spPr>
        <p:txBody>
          <a:bodyPr wrap="square" lIns="0" tIns="0" rIns="0" bIns="0" rtlCol="0" anchor="ctr"/>
          <a:lstStyle/>
          <a:p>
            <a:pPr marL="0" indent="0">
              <a:buNone/>
            </a:pPr>
            <a:endParaRPr lang="en-US" sz="1100" dirty="0"/>
          </a:p>
        </p:txBody>
      </p:sp>
      <p:sp>
        <p:nvSpPr>
          <p:cNvPr id="25" name="Shape 21">
            <a:extLst>
              <a:ext uri="{FF2B5EF4-FFF2-40B4-BE49-F238E27FC236}">
                <a16:creationId xmlns:a16="http://schemas.microsoft.com/office/drawing/2014/main" id="{014DD2AF-3B43-DFA9-DAE2-EF82A5EA3878}"/>
              </a:ext>
            </a:extLst>
          </p:cNvPr>
          <p:cNvSpPr/>
          <p:nvPr/>
        </p:nvSpPr>
        <p:spPr>
          <a:xfrm flipH="1">
            <a:off x="530351" y="1265239"/>
            <a:ext cx="155448" cy="152081"/>
          </a:xfrm>
          <a:prstGeom prst="rect">
            <a:avLst/>
          </a:prstGeom>
          <a:solidFill>
            <a:srgbClr val="F4A261"/>
          </a:solidFill>
          <a:ln w="12700">
            <a:solidFill>
              <a:srgbClr val="F4A261"/>
            </a:solidFill>
            <a:prstDash val="solid"/>
          </a:ln>
        </p:spPr>
        <p:txBody>
          <a:bodyPr/>
          <a:lstStyle/>
          <a:p>
            <a:endParaRPr lang="en-US"/>
          </a:p>
        </p:txBody>
      </p:sp>
      <p:sp>
        <p:nvSpPr>
          <p:cNvPr id="27" name="Shape 21">
            <a:extLst>
              <a:ext uri="{FF2B5EF4-FFF2-40B4-BE49-F238E27FC236}">
                <a16:creationId xmlns:a16="http://schemas.microsoft.com/office/drawing/2014/main" id="{5E4CBB4A-8353-000A-0F48-DC36EAB7A2C0}"/>
              </a:ext>
            </a:extLst>
          </p:cNvPr>
          <p:cNvSpPr/>
          <p:nvPr/>
        </p:nvSpPr>
        <p:spPr>
          <a:xfrm flipH="1">
            <a:off x="537139" y="1661319"/>
            <a:ext cx="155448" cy="152081"/>
          </a:xfrm>
          <a:prstGeom prst="rect">
            <a:avLst/>
          </a:prstGeom>
          <a:solidFill>
            <a:srgbClr val="F4A261"/>
          </a:solidFill>
          <a:ln w="12700">
            <a:solidFill>
              <a:srgbClr val="F4A261"/>
            </a:solidFill>
            <a:prstDash val="solid"/>
          </a:ln>
        </p:spPr>
        <p:txBody>
          <a:bodyPr/>
          <a:lstStyle/>
          <a:p>
            <a:endParaRPr lang="en-US"/>
          </a:p>
        </p:txBody>
      </p:sp>
      <p:sp>
        <p:nvSpPr>
          <p:cNvPr id="28" name="Shape 21">
            <a:extLst>
              <a:ext uri="{FF2B5EF4-FFF2-40B4-BE49-F238E27FC236}">
                <a16:creationId xmlns:a16="http://schemas.microsoft.com/office/drawing/2014/main" id="{92429B14-8FEC-B82D-B644-B6BC84676E78}"/>
              </a:ext>
            </a:extLst>
          </p:cNvPr>
          <p:cNvSpPr/>
          <p:nvPr/>
        </p:nvSpPr>
        <p:spPr>
          <a:xfrm flipH="1">
            <a:off x="537139" y="2119391"/>
            <a:ext cx="155448" cy="152081"/>
          </a:xfrm>
          <a:prstGeom prst="rect">
            <a:avLst/>
          </a:prstGeom>
          <a:solidFill>
            <a:srgbClr val="F4A261"/>
          </a:solidFill>
          <a:ln w="12700">
            <a:solidFill>
              <a:srgbClr val="F4A261"/>
            </a:solidFill>
            <a:prstDash val="solid"/>
          </a:ln>
        </p:spPr>
        <p:txBody>
          <a:bodyPr/>
          <a:lstStyle/>
          <a:p>
            <a:endParaRPr lang="en-US"/>
          </a:p>
        </p:txBody>
      </p:sp>
      <p:sp>
        <p:nvSpPr>
          <p:cNvPr id="29" name="Shape 21">
            <a:extLst>
              <a:ext uri="{FF2B5EF4-FFF2-40B4-BE49-F238E27FC236}">
                <a16:creationId xmlns:a16="http://schemas.microsoft.com/office/drawing/2014/main" id="{A28C034B-CE86-150C-BDFE-EEEF67057AE1}"/>
              </a:ext>
            </a:extLst>
          </p:cNvPr>
          <p:cNvSpPr/>
          <p:nvPr/>
        </p:nvSpPr>
        <p:spPr>
          <a:xfrm flipH="1">
            <a:off x="532843" y="2506281"/>
            <a:ext cx="155448" cy="152081"/>
          </a:xfrm>
          <a:prstGeom prst="rect">
            <a:avLst/>
          </a:prstGeom>
          <a:solidFill>
            <a:srgbClr val="F4A261"/>
          </a:solidFill>
          <a:ln w="12700">
            <a:solidFill>
              <a:srgbClr val="F4A261"/>
            </a:solidFill>
            <a:prstDash val="solid"/>
          </a:ln>
        </p:spPr>
        <p:txBody>
          <a:bodyPr/>
          <a:lstStyle/>
          <a:p>
            <a:endParaRPr lang="en-US"/>
          </a:p>
        </p:txBody>
      </p:sp>
      <p:sp>
        <p:nvSpPr>
          <p:cNvPr id="30" name="Shape 21">
            <a:extLst>
              <a:ext uri="{FF2B5EF4-FFF2-40B4-BE49-F238E27FC236}">
                <a16:creationId xmlns:a16="http://schemas.microsoft.com/office/drawing/2014/main" id="{CC1B2F50-4217-AAB1-0740-C03CFF93E0F7}"/>
              </a:ext>
            </a:extLst>
          </p:cNvPr>
          <p:cNvSpPr/>
          <p:nvPr/>
        </p:nvSpPr>
        <p:spPr>
          <a:xfrm flipH="1">
            <a:off x="528826" y="3024600"/>
            <a:ext cx="155448" cy="152081"/>
          </a:xfrm>
          <a:prstGeom prst="rect">
            <a:avLst/>
          </a:prstGeom>
          <a:solidFill>
            <a:srgbClr val="F4A261"/>
          </a:solidFill>
          <a:ln w="12700">
            <a:solidFill>
              <a:srgbClr val="F4A261"/>
            </a:solidFill>
            <a:prstDash val="solid"/>
          </a:ln>
        </p:spPr>
        <p:txBody>
          <a:bodyPr/>
          <a:lstStyle/>
          <a:p>
            <a:endParaRPr lang="en-US"/>
          </a:p>
        </p:txBody>
      </p:sp>
      <p:sp>
        <p:nvSpPr>
          <p:cNvPr id="31" name="Shape 21">
            <a:extLst>
              <a:ext uri="{FF2B5EF4-FFF2-40B4-BE49-F238E27FC236}">
                <a16:creationId xmlns:a16="http://schemas.microsoft.com/office/drawing/2014/main" id="{D8CF68CE-5EE4-1991-A6AE-E80A0F2916B2}"/>
              </a:ext>
            </a:extLst>
          </p:cNvPr>
          <p:cNvSpPr/>
          <p:nvPr/>
        </p:nvSpPr>
        <p:spPr>
          <a:xfrm flipH="1">
            <a:off x="502919" y="3611880"/>
            <a:ext cx="155448" cy="152081"/>
          </a:xfrm>
          <a:prstGeom prst="rect">
            <a:avLst/>
          </a:prstGeom>
          <a:solidFill>
            <a:srgbClr val="F4A261"/>
          </a:solidFill>
          <a:ln w="12700">
            <a:solidFill>
              <a:srgbClr val="F4A261"/>
            </a:solidFill>
            <a:prstDash val="solid"/>
          </a:ln>
        </p:spPr>
        <p:txBody>
          <a:bodyPr/>
          <a:lstStyle/>
          <a:p>
            <a:endParaRPr lang="en-US"/>
          </a:p>
        </p:txBody>
      </p:sp>
    </p:spTree>
    <p:extLst>
      <p:ext uri="{BB962C8B-B14F-4D97-AF65-F5344CB8AC3E}">
        <p14:creationId xmlns:p14="http://schemas.microsoft.com/office/powerpoint/2010/main" val="2685110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8823960" y="0"/>
            <a:ext cx="320040" cy="5143500"/>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457200" y="1691640"/>
            <a:ext cx="8229600" cy="1097280"/>
          </a:xfrm>
          <a:prstGeom prst="rect">
            <a:avLst/>
          </a:prstGeom>
          <a:noFill/>
          <a:ln/>
        </p:spPr>
        <p:txBody>
          <a:bodyPr wrap="square" lIns="0" tIns="0" rIns="0" bIns="0" rtlCol="0" anchor="ctr"/>
          <a:lstStyle/>
          <a:p>
            <a:pPr marL="0" indent="0" algn="ctr">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8" name="Shape 6"/>
          <p:cNvSpPr/>
          <p:nvPr/>
        </p:nvSpPr>
        <p:spPr>
          <a:xfrm>
            <a:off x="4251960" y="2834640"/>
            <a:ext cx="640080" cy="36576"/>
          </a:xfrm>
          <a:prstGeom prst="rect">
            <a:avLst/>
          </a:prstGeom>
          <a:solidFill>
            <a:srgbClr val="F4A261"/>
          </a:solidFill>
          <a:ln w="12700">
            <a:solidFill>
              <a:srgbClr val="F4A261"/>
            </a:solidFill>
            <a:prstDash val="solid"/>
          </a:ln>
        </p:spPr>
        <p:txBody>
          <a:bodyPr/>
          <a:lstStyle/>
          <a:p>
            <a:endParaRPr lang="en-US"/>
          </a:p>
        </p:txBody>
      </p:sp>
      <p:sp>
        <p:nvSpPr>
          <p:cNvPr id="9" name="Text 7"/>
          <p:cNvSpPr/>
          <p:nvPr/>
        </p:nvSpPr>
        <p:spPr>
          <a:xfrm>
            <a:off x="457200" y="2926080"/>
            <a:ext cx="8229600" cy="548640"/>
          </a:xfrm>
          <a:prstGeom prst="rect">
            <a:avLst/>
          </a:prstGeom>
          <a:noFill/>
          <a:ln/>
        </p:spPr>
        <p:txBody>
          <a:bodyPr wrap="square" lIns="0" tIns="0" rIns="0" bIns="0" rtlCol="0" anchor="ctr"/>
          <a:lstStyle/>
          <a:p>
            <a:pPr marL="0" indent="0" algn="ctr">
              <a:buNone/>
            </a:pPr>
            <a:endParaRPr lang="en-US" sz="2200" dirty="0"/>
          </a:p>
        </p:txBody>
      </p:sp>
      <p:sp>
        <p:nvSpPr>
          <p:cNvPr id="10" name="Text 8"/>
          <p:cNvSpPr/>
          <p:nvPr/>
        </p:nvSpPr>
        <p:spPr>
          <a:xfrm>
            <a:off x="457200" y="3703320"/>
            <a:ext cx="8229600" cy="365760"/>
          </a:xfrm>
          <a:prstGeom prst="rect">
            <a:avLst/>
          </a:prstGeom>
          <a:noFill/>
          <a:ln/>
        </p:spPr>
        <p:txBody>
          <a:bodyPr wrap="square" lIns="0" tIns="0" rIns="0" bIns="0" rtlCol="0" anchor="ctr"/>
          <a:lstStyle/>
          <a:p>
            <a:pPr marL="0" indent="0" algn="ctr">
              <a:buNone/>
            </a:pPr>
            <a:r>
              <a:rPr lang="en-US" sz="1100" kern="0" spc="200" dirty="0">
                <a:solidFill>
                  <a:srgbClr val="E8ECF7"/>
                </a:solidFill>
                <a:latin typeface="Calibri" pitchFamily="34" charset="0"/>
                <a:ea typeface="Calibri" pitchFamily="34" charset="-122"/>
                <a:cs typeface="Calibri" pitchFamily="34" charset="-120"/>
              </a:rPr>
              <a:t>Group 6   |  DATA-MSML 612   |   University of Maryland</a:t>
            </a:r>
            <a:endParaRPr lang="en-US" sz="11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loud_computing_project_Final" id="{27A10500-E39F-8C4A-A627-890BE24AF4DF}" vid="{8091FA9C-E73D-3A4D-8A6B-6957FB10CA2B}"/>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1431</TotalTime>
  <Words>1025</Words>
  <Application>Microsoft Macintosh PowerPoint</Application>
  <PresentationFormat>On-screen Show (16:9)</PresentationFormat>
  <Paragraphs>207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Arial</vt:lpstr>
      <vt:lpstr>Georgia</vt:lpstr>
      <vt:lpstr>Material Icons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Akshay Nayan Kamkhalia</cp:lastModifiedBy>
  <cp:revision>13</cp:revision>
  <dcterms:modified xsi:type="dcterms:W3CDTF">2026-04-29T23:37:07Z</dcterms:modified>
</cp:coreProperties>
</file>